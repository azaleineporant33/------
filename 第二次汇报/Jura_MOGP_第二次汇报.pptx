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9DB2D9"/>
                </a:solidFill>
                <a:latin typeface="Microsoft YaHei"/>
              </a:rPr>
              <a:t>组会汇报（第二次） · 瑞士 JURA 土壤重金属数据集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公平比较 MOGP 与线性回归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2412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CBD5E1"/>
                </a:solidFill>
                <a:latin typeface="Microsoft YaHei"/>
              </a:rPr>
              <a:t>上次汇报被指出“偏袒 MOGP、线性回归对比草率”。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CBD5E1"/>
                </a:solidFill>
                <a:latin typeface="Microsoft YaHei"/>
              </a:rPr>
              <a:t>这次只做一件事：在赛前定死规则、掌握同样信息的前提下，检验“参考邻居”到底有没有用。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31920"/>
            <a:ext cx="3200400" cy="36576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汇报人：蔡昊璋（Aza）      2026 年 10 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3337560" cy="1234440"/>
          </a:xfrm>
          <a:prstGeom prst="roundRect">
            <a:avLst>
              <a:gd name="adj" fmla="val 4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19472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7FA8E0"/>
                </a:solidFill>
                <a:latin typeface="Microsoft YaHei"/>
              </a:rPr>
              <a:t>6 条公平规则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468112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同一套 10 次划分 + 赛前定死 p &lt; 0.05 判定标准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800600"/>
            <a:ext cx="3337560" cy="1234440"/>
          </a:xfrm>
          <a:prstGeom prst="roundRect">
            <a:avLst>
              <a:gd name="adj" fmla="val 4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4919472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7FA8E0"/>
                </a:solidFill>
                <a:latin typeface="Microsoft YaHei"/>
              </a:rPr>
              <a:t>+6.4% (p=0.0001)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5468112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主比较：MOGP 胜过同信息的回归 B（10/10 全胜）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800600"/>
            <a:ext cx="3337560" cy="1234440"/>
          </a:xfrm>
          <a:prstGeom prst="roundRect">
            <a:avLst>
              <a:gd name="adj" fmla="val 4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4919472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7FA8E0"/>
                </a:solidFill>
                <a:latin typeface="Microsoft YaHei"/>
              </a:rPr>
              <a:t>p = 0.33（打平）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5468112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附加比较：回归 C 加上岩石/土地用途即可追平 MOGP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上次汇报的问题与这次的改进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上次被指出“完全在偏袒 MOGP，线性回归对比做得草率”——逐条复盘并彻底改正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7455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4297680"/>
                <a:gridCol w="4663440"/>
              </a:tblGrid>
              <a:tr h="7040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上次的不公平之处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第一次汇报的做法（偏袒 MOGP）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第二次汇报的改进（公平对决）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Microsoft YaHei"/>
                        </a:rPr>
                        <a:t>1. 考的次数不一样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Microsoft YaHei"/>
                        </a:rPr>
                        <a:t>MOGP 考了 10 次随机划分，线性回归只考了 1 次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A78D6"/>
                          </a:solidFill>
                          <a:latin typeface="Microsoft YaHei"/>
                        </a:rPr>
                        <a:t>四个模型考完全相同的 10 次随机划分（同一张考卷）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Microsoft YaHei"/>
                        </a:rPr>
                        <a:t>2. 没有做显著性检验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Microsoft YaHei"/>
                        </a:rPr>
                        <a:t>只报了“GP 比回归多降 4% 误差”，未检验是不是运气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A78D6"/>
                          </a:solidFill>
                          <a:latin typeface="Microsoft YaHei"/>
                        </a:rPr>
                        <a:t>每次划分算配对差值，做配对 t 检验 + Wilcoxon 检验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Microsoft YaHei"/>
                        </a:rPr>
                        <a:t>3. 头条数字比错了对象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Microsoft YaHei"/>
                        </a:rPr>
                        <a:t>“+26%”比的是完全不看 Ni/Zn 的单输出 GP，夸大了优势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A78D6"/>
                          </a:solidFill>
                          <a:latin typeface="Microsoft YaHei"/>
                        </a:rPr>
                        <a:t>主比较对手换成同样知道 Ni、Zn 和位置的回归 B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Microsoft YaHei"/>
                        </a:rPr>
                        <a:t>4. 优点只说不测（说错了）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Microsoft YaHei"/>
                        </a:rPr>
                        <a:t>声称“线性回归给不出不确定度”（其实课本里就有公式）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C04A3A"/>
                          </a:solidFill>
                          <a:latin typeface="Microsoft YaHei"/>
                        </a:rPr>
                        <a:t>回归和 MOGP 都交出 95% 预测区间，实测对比覆盖率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257800"/>
            <a:ext cx="11274552" cy="1005840"/>
          </a:xfrm>
          <a:prstGeom prst="rect">
            <a:avLst/>
          </a:prstGeom>
          <a:solidFill>
            <a:srgbClr val="F9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257800"/>
            <a:ext cx="73152" cy="1005840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49240"/>
            <a:ext cx="10963656" cy="8412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50" b="1">
                <a:solidFill>
                  <a:srgbClr val="C04A3A"/>
                </a:solidFill>
                <a:latin typeface="Microsoft YaHei"/>
              </a:rPr>
              <a:t>这次汇报只做一件事：回答一个干净的问题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>在掌握同样信息（Ni、Zn、位置）的情况下，MOGP（参考身边邻居）预测 Cd 是否比线性回归更准？给出的 95% 误差范围是否更可信？
（第一次汇报里的双尺度分解、BIC 选 Q 等内容与本次问题无关，正文中全部删去。）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问题与数据：藏起 100 个点的 Cd 来考模型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瑞士 Jura 土壤数据集（359 个采样点）：测镉（Cd）贵，测镍（Ni）和锌（Zn）便宜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69037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20240"/>
                <a:gridCol w="3017520"/>
              </a:tblGrid>
              <a:tr h="58293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变量 / 信息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哪些点可见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在考试中的角色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C04A3A"/>
                          </a:solidFill>
                          <a:latin typeface="Microsoft YaHei"/>
                        </a:rPr>
                        <a:t>Cd（镉，目标变量）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C04A3A"/>
                          </a:solidFill>
                          <a:latin typeface="Microsoft YaHei"/>
                        </a:rPr>
                        <a:t>259 个可见 / 100 个藏起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Microsoft YaHei"/>
                        </a:rPr>
                        <a:t>藏起的 100 个点谁都不准偷看，只用来最后打分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Microsoft YaHei"/>
                        </a:rPr>
                        <a:t>Ni（镍）、Zn（锌）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Microsoft YaHei"/>
                        </a:rPr>
                        <a:t>全部 359 个点可见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Microsoft YaHei"/>
                        </a:rPr>
                        <a:t>便宜的辅助指标，所有模型在测试点上都能直接用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Microsoft YaHei"/>
                        </a:rPr>
                        <a:t>位置 (X, Y) · 岩石 · 土地用途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Microsoft YaHei"/>
                        </a:rPr>
                        <a:t>全部 359 个点可见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Microsoft YaHei"/>
                        </a:rPr>
                        <a:t>每个采样点的坐标与分类背景（按各模型规则使用）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069080"/>
            <a:ext cx="690372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069080"/>
            <a:ext cx="73152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160520"/>
            <a:ext cx="6592824" cy="8869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A78D6"/>
                </a:solidFill>
                <a:latin typeface="Microsoft YaHei"/>
              </a:rPr>
              <a:t>直观比喻：这场考试考的是什么？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测试点（右图橙点）自己的 Ni 和 Zn 是已知的。
• 线性回归：只根据“这个点自己的 Ni、Zn 和所处片区”来推算 Cd。
• MOGP：还会转头看看“旁边灰点（邻居）的 Cd 实际是多少”。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57800"/>
            <a:ext cx="69037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73152" cy="96012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349240"/>
            <a:ext cx="6592824" cy="7955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4C72B0"/>
                </a:solidFill>
                <a:latin typeface="Microsoft YaHei"/>
              </a:rPr>
              <a:t>严格沿用第一次汇报的数据处理（防泄漏）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三个金属取 log 后标准化；其中 Cd 的均值和标准差只用 259 个训练点计算，绝不碰 100 个测试点。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463040"/>
            <a:ext cx="4142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0_spli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950" y="1508760"/>
            <a:ext cx="3063371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80960" y="5779008"/>
            <a:ext cx="39593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图 0：10 次随机划分中的第 0 次（灰点 = 训练点，橙点 = 藏起来的测试点）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四个参赛模型：主比较与附加比较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让线性回归一步步变强，看“参考邻居（MOGP）”到底在哪一步还能赢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74551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3822191"/>
                <a:gridCol w="32918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参赛模型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公式 / 模型设置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用到的信息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比较定位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</a:rPr>
                        <a:t>回归 A（普通）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Cd = a + b·Ni + c·Zn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只用这个点自己的 Ni、Zn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基础参考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A78D6"/>
                          </a:solidFill>
                          <a:latin typeface="Microsoft YaHei"/>
                        </a:rPr>
                        <a:t>回归 B（+ 位置趋势）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A78D6"/>
                          </a:solidFill>
                          <a:latin typeface="Microsoft YaHei"/>
                        </a:rPr>
                        <a:t>回归 A + d·X + e·Y + f·X² + g·Y² + h·X·Y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</a:rPr>
                        <a:t>这个点的 Ni、Zn + 整片区域的大范围趋势（倾斜与弯曲）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A78D6"/>
                          </a:solidFill>
                          <a:latin typeface="Microsoft YaHei"/>
                        </a:rPr>
                        <a:t>主要对手（主比较）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</a:rPr>
                        <a:t>回归 C（+ 岩石、土地用途）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回归 B + 岩石类型(0/1) + 土地用途(0/1)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回归 B 的全部信息 + 这个点的岩石类型与土地用途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C04A3A"/>
                          </a:solidFill>
                          <a:latin typeface="Microsoft YaHei"/>
                        </a:rPr>
                        <a:t>附加比较（多用信息）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</a:rPr>
                        <a:t>MOGP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第一次汇报选定的模型（Q=2），设置完全不变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</a:rPr>
                        <a:t>这个点的 Ni、Zn + 身边具体邻居的 Cd 和 Ni/Zn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</a:rPr>
                        <a:t>被测对象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617720"/>
            <a:ext cx="5486400" cy="1645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617720"/>
            <a:ext cx="73152" cy="164592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709159"/>
            <a:ext cx="5175504" cy="14813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A78D6"/>
                </a:solidFill>
                <a:latin typeface="Microsoft YaHei"/>
              </a:rPr>
              <a:t>主比较：回归 B 对 MOGP（同信息公平对决）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• 两者掌握的原始信息最接近（都只知道 Ni、Zn 和坐标 X, Y）。
• 为什么回归 B 要加 X²、Y²、X·Y？只用 X、Y 像一块斜木板；加上平方项像一张能弯的纸，能表达“中间高四周低”，为了公平让对手尽量强。
• 比喻：回归 B 知道“你住在城市东区”，MOGP 知道“你隔壁邻居家是什么情况”。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4617720"/>
            <a:ext cx="5486400" cy="1645920"/>
          </a:xfrm>
          <a:prstGeom prst="rect">
            <a:avLst/>
          </a:prstGeom>
          <a:solidFill>
            <a:srgbClr val="F9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4617720"/>
            <a:ext cx="73152" cy="1645920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709159"/>
            <a:ext cx="5175504" cy="14813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C04A3A"/>
                </a:solidFill>
                <a:latin typeface="Microsoft YaHei"/>
              </a:rPr>
              <a:t>附加比较：回归 C 对 MOGP（多带一本参考书）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• 回归 C 比 MOGP 多知道“岩石类型”和“土地用途”，不算同信息公平对决。
• 为什么要比这一组？为了回答一个实际问题：岩石、土地用途这类便宜现成的分类信息，能不能让简单的线性回归追上复杂的 MOGP？
• 不管谁赢，都是有实际价值的诚实结论。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六条公平规则 + 赛前定死的判定标准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跑实验前先把规则和胜负标准写进方案与代码，结果出来后一个字不改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5595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728216"/>
            <a:ext cx="438912" cy="43891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28216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54480"/>
            <a:ext cx="470916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F2937"/>
                </a:solidFill>
                <a:latin typeface="Microsoft YaHei"/>
              </a:rPr>
              <a:t>同一张考卷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865376"/>
            <a:ext cx="470916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四个模型跑完全相同的 10 次随机划分（seed 0–9），每次藏起同样的 100 个测试点。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5595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504" y="1728216"/>
            <a:ext cx="438912" cy="43891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728216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1554480"/>
            <a:ext cx="470916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F2937"/>
                </a:solidFill>
                <a:latin typeface="Microsoft YaHei"/>
              </a:rPr>
              <a:t>同样的复习资料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1865376"/>
            <a:ext cx="470916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只看训练集 259 个 Cd；取 log 与标准化只用训练数据计算，所有模型用同一套输入。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78608"/>
            <a:ext cx="5559552" cy="98755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" y="2843784"/>
            <a:ext cx="438912" cy="43891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43784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670048"/>
            <a:ext cx="470916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F2937"/>
                </a:solidFill>
                <a:latin typeface="Microsoft YaHei"/>
              </a:rPr>
              <a:t>赛前定死设置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980944"/>
            <a:ext cx="470916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MOGP 沿用第一次汇报设置不再调参（自检与上次结果相差 &lt; 10⁻¹⁵）；少于 10 个点的小类别赛前规定并入最大类。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578608"/>
            <a:ext cx="5559552" cy="98755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8504" y="2843784"/>
            <a:ext cx="438912" cy="43891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2843784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2670048"/>
            <a:ext cx="470916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F2937"/>
                </a:solidFill>
                <a:latin typeface="Microsoft YaHei"/>
              </a:rPr>
              <a:t>同样的评分（比两项）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2980944"/>
            <a:ext cx="470916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① 准不准：看 RMSE（平均错多少，越小越好）；② 误差范围可不可信：看 95% 预测区间实际覆盖率（理想值 95%）。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94176"/>
            <a:ext cx="55595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" y="3959352"/>
            <a:ext cx="438912" cy="43891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959352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3785615"/>
            <a:ext cx="470916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F2937"/>
                </a:solidFill>
                <a:latin typeface="Microsoft YaHei"/>
              </a:rPr>
              <a:t>配对检验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4096512"/>
            <a:ext cx="470916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每次划分算“回归 RMSE − MOGP RMSE”，对 10 个差值做配对 t 检验，抵消考卷本身的难易波动。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694176"/>
            <a:ext cx="55595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8504" y="3959352"/>
            <a:ext cx="438912" cy="43891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8504" y="3959352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3785615"/>
            <a:ext cx="470916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F2937"/>
                </a:solidFill>
                <a:latin typeface="Microsoft YaHei"/>
              </a:rPr>
              <a:t>先定标准，再看结果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4096512"/>
            <a:ext cx="470916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跑代码前写好下面的判定标准，结果出来后严格照写，绝不挑对 MOGP 有利的说法。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19472"/>
            <a:ext cx="11274552" cy="1325880"/>
          </a:xfrm>
          <a:prstGeom prst="rect">
            <a:avLst/>
          </a:prstGeom>
          <a:solidFill>
            <a:srgbClr val="F9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919472"/>
            <a:ext cx="73152" cy="1325880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010912"/>
            <a:ext cx="10963656" cy="11612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C04A3A"/>
                </a:solidFill>
                <a:latin typeface="Microsoft YaHei"/>
              </a:rPr>
              <a:t>赛前定死的判定标准（写在看结果之前）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</a:rPr>
              <a:t>• 准不准（主比较 &amp; 附加比较）：MOGP 与回归的 10 个配对差值，必须满足 配对 t 检验 p &lt; 0.05 且平均误差更小，才写“MOGP 比回归更准”；
  只要 p ≥ 0.05，一律如实写“两者准确度没有明显差别”。
• 误差范围可不可信：哪个模型的 95% 预测区间实际覆盖率更接近 95%，哪个的误差范围就更可信。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结果 ①：准不准？—— 主比较 MOGP 赢 6.4%，附加比较打平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表 1 为全场核心依据（单位：标准化 log(Cd)）；右图展示 10 张考卷上的配对走势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62636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417320"/>
                <a:gridCol w="1051560"/>
                <a:gridCol w="960120"/>
                <a:gridCol w="1143000"/>
              </a:tblGrid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平均 RMSE
(越小越准)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MOGP 赢
几次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配对 t 检验
p 值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按赛前标准
判定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</a:rPr>
                        <a:t>回归 A (Ni, Zn)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</a:rPr>
                        <a:t>0.691 ± 0.047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</a:rPr>
                        <a:t>10 / 10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</a:rPr>
                        <a:t>0.00003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</a:rPr>
                        <a:t>MOGP 更准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2A78D6"/>
                          </a:solidFill>
                          <a:latin typeface="Microsoft YaHei"/>
                        </a:rPr>
                        <a:t>回归 B (+位置趋势)
【主要对手】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2A78D6"/>
                          </a:solidFill>
                          <a:latin typeface="Microsoft YaHei"/>
                        </a:rPr>
                        <a:t>0.675 ± 0.050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2A78D6"/>
                          </a:solidFill>
                          <a:latin typeface="Microsoft YaHei"/>
                        </a:rPr>
                        <a:t>10 / 10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2A78D6"/>
                          </a:solidFill>
                          <a:latin typeface="Microsoft YaHei"/>
                        </a:rPr>
                        <a:t>0.0001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2A78D6"/>
                          </a:solidFill>
                          <a:latin typeface="Microsoft YaHei"/>
                        </a:rPr>
                        <a:t>MOGP 更准
(少错 6.4%)</a:t>
                      </a:r>
                    </a:p>
                  </a:txBody>
                  <a:tcPr anchor="ctr" marL="91440" marR="91440" marT="54864" marB="54864">
                    <a:solidFill>
                      <a:srgbClr val="E8F0FE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C04A3A"/>
                          </a:solidFill>
                          <a:latin typeface="Microsoft YaHei"/>
                        </a:rPr>
                        <a:t>回归 C (+岩石/土地)
【附加比较】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C04A3A"/>
                          </a:solidFill>
                          <a:latin typeface="Microsoft YaHei"/>
                        </a:rPr>
                        <a:t>0.637 ± 0.052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C04A3A"/>
                          </a:solidFill>
                          <a:latin typeface="Microsoft YaHei"/>
                        </a:rPr>
                        <a:t>6 / 10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C04A3A"/>
                          </a:solidFill>
                          <a:latin typeface="Microsoft YaHei"/>
                        </a:rPr>
                        <a:t>0.33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C04A3A"/>
                          </a:solidFill>
                          <a:latin typeface="Microsoft YaHei"/>
                        </a:rPr>
                        <a:t>无明显差别
(仅差 0.9%)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</a:rPr>
                        <a:t>MOGP (+邻居)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</a:rPr>
                        <a:t>0.632 ± 0.054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</a:rPr>
                        <a:t>基准对照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041648"/>
            <a:ext cx="6263640" cy="1051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041648"/>
            <a:ext cx="73152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133087"/>
            <a:ext cx="5952744" cy="8869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2A78D6"/>
                </a:solidFill>
                <a:latin typeface="Microsoft YaHei"/>
              </a:rPr>
              <a:t>1. 主比较（MOGP vs 回归 B）：MOGP 比回归更准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在掌握同样信息（Ni、Zn、位置）下，MOGP 平均少错 6.4%（平均差 0.043，95% CI [0.028, 0.058]），10 次划分全胜，p = 0.0001 &lt; 0.05。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12080"/>
            <a:ext cx="6263640" cy="1051560"/>
          </a:xfrm>
          <a:prstGeom prst="rect">
            <a:avLst/>
          </a:prstGeom>
          <a:solidFill>
            <a:srgbClr val="F9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212080"/>
            <a:ext cx="73152" cy="1051560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303520"/>
            <a:ext cx="5952744" cy="8869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C04A3A"/>
                </a:solidFill>
                <a:latin typeface="Microsoft YaHei"/>
              </a:rPr>
              <a:t>2. 附加比较（MOGP vs 回归 C）：两者准确度没有明显差别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回归 C 加上岩石和土地用途后（0.637）几乎追平 MOGP（0.632），10 次里 MOGP 只赢 6 次，p = 0.33。简单回归加便宜分类信息就能追平复杂模型！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463040"/>
            <a:ext cx="48280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1_paired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1965775"/>
            <a:ext cx="4681728" cy="3118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22592" y="5577840"/>
            <a:ext cx="4590288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图 1 读法：每条灰线是一张考卷（同 100 个测试点）。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从回归 B 到 MOGP，10 条线全部往下走；但回归 C 到 MOGP 有升有降。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结果 ②：给出的“误差范围”可不可信？（理想值是 95%）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纠正上次汇报的错误说法：线性回归不仅能给预测区间，而且覆盖率比 MOGP 更诚实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21024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621024" cy="6400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7276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95.0%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48256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理想的目标覆盖率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4086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承诺“95% 把握”，100 个测试点里就该有约 95 个真值落在区间内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463040"/>
            <a:ext cx="3621024" cy="1417320"/>
          </a:xfrm>
          <a:prstGeom prst="rect">
            <a:avLst/>
          </a:prstGeom>
          <a:solidFill>
            <a:srgbClr val="E9F7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463040"/>
            <a:ext cx="3621024" cy="64008"/>
          </a:xfrm>
          <a:prstGeom prst="rect">
            <a:avLst/>
          </a:prstGeom>
          <a:solidFill>
            <a:srgbClr val="1E7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3" y="157276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E7E5A"/>
                </a:solidFill>
                <a:latin typeface="Microsoft YaHei"/>
              </a:rPr>
              <a:t>94.4% ~ 95.2%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3" y="2048256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线性回归 B / C 的实际覆盖率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34086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几乎正好等于承诺的 95%（其中回归 C 为 95.2%，全场最准）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1463040"/>
            <a:ext cx="3621024" cy="1417320"/>
          </a:xfrm>
          <a:prstGeom prst="rect">
            <a:avLst/>
          </a:prstGeom>
          <a:solidFill>
            <a:srgbClr val="F9EBE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463040"/>
            <a:ext cx="3621024" cy="64008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157276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04A3A"/>
                </a:solidFill>
                <a:latin typeface="Microsoft YaHei"/>
              </a:rPr>
              <a:t>92.3%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048256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</a:rPr>
              <a:t>MOGP 的实际覆盖率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34086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区间最窄（2.31），但略微“自信过头”：说有 95% 把握，实际只有约 92%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3090672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1737360"/>
                <a:gridCol w="1737360"/>
                <a:gridCol w="2862072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95% 预测区间实际覆盖率
（10 次均值与范围）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与理想值 95%
的偏差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区间平均宽度
（越窄越精确）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按赛前标准评价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</a:rPr>
                        <a:t>回归 A（Ni, Zn）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93.9% （91% – 97%）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−1.1%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2.74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覆盖率接近 95%，区间较宽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</a:rPr>
                        <a:t>回归 B（+ 位置趋势）主要对手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E7E5A"/>
                          </a:solidFill>
                          <a:latin typeface="Microsoft YaHei"/>
                        </a:rPr>
                        <a:t>94.4% （91% – 98%）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E7E5A"/>
                          </a:solidFill>
                          <a:latin typeface="Microsoft YaHei"/>
                        </a:rPr>
                        <a:t>−0.6%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2.72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E7E5A"/>
                          </a:solidFill>
                          <a:latin typeface="Microsoft YaHei"/>
                        </a:rPr>
                        <a:t>覆盖率非常准（比 MOGP 更可信）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E7E5A"/>
                          </a:solidFill>
                          <a:latin typeface="Microsoft YaHei"/>
                        </a:rPr>
                        <a:t>回归 C（+ 岩石、土地用途）</a:t>
                      </a:r>
                    </a:p>
                  </a:txBody>
                  <a:tcPr anchor="ctr" marL="91440" marR="91440" marT="54864" marB="54864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E7E5A"/>
                          </a:solidFill>
                          <a:latin typeface="Microsoft YaHei"/>
                        </a:rPr>
                        <a:t>95.2% （90% – 98%）</a:t>
                      </a:r>
                    </a:p>
                  </a:txBody>
                  <a:tcPr anchor="ctr" marL="91440" marR="91440" marT="54864" marB="54864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E7E5A"/>
                          </a:solidFill>
                          <a:latin typeface="Microsoft YaHei"/>
                        </a:rPr>
                        <a:t>+0.2%（最准）</a:t>
                      </a:r>
                    </a:p>
                  </a:txBody>
                  <a:tcPr anchor="ctr" marL="91440" marR="91440" marT="54864" marB="54864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2.53</a:t>
                      </a:r>
                    </a:p>
                  </a:txBody>
                  <a:tcPr anchor="ctr" marL="91440" marR="91440" marT="54864" marB="54864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E7E5A"/>
                          </a:solidFill>
                          <a:latin typeface="Microsoft YaHei"/>
                        </a:rPr>
                        <a:t>全场最接近理想值 95%</a:t>
                      </a:r>
                    </a:p>
                  </a:txBody>
                  <a:tcPr anchor="ctr" marL="91440" marR="91440" marT="54864" marB="54864">
                    <a:solidFill>
                      <a:srgbClr val="E9F7E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C04A3A"/>
                          </a:solidFill>
                          <a:latin typeface="Microsoft YaHei"/>
                        </a:rPr>
                        <a:t>MOGP（+ 邻居）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C04A3A"/>
                          </a:solidFill>
                          <a:latin typeface="Microsoft YaHei"/>
                        </a:rPr>
                        <a:t>92.3% （89% – 96%）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C04A3A"/>
                          </a:solidFill>
                          <a:latin typeface="Microsoft YaHei"/>
                        </a:rPr>
                        <a:t>−2.7%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2A78D6"/>
                          </a:solidFill>
                          <a:latin typeface="Microsoft YaHei"/>
                        </a:rPr>
                        <a:t>2.31（最窄）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C04A3A"/>
                          </a:solidFill>
                          <a:latin typeface="Microsoft YaHei"/>
                        </a:rPr>
                        <a:t>区间最窄，但覆盖率略低于 95%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321808"/>
            <a:ext cx="11274552" cy="93268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73152" cy="93268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413248"/>
            <a:ext cx="10963656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A78D6"/>
                </a:solidFill>
                <a:latin typeface="Microsoft YaHei"/>
              </a:rPr>
              <a:t>上次汇报的反思与更正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上次说“线性回归给不出不确定度”是错的：课本上的最小二乘预测区间公式不仅能给出每个点的 95% 误差范围，而且在 10 次测试中覆盖率（94.4%–95.2%）比 MOGP（92.3%）更老实。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为什么 MOGP 能赢回归 B？—— 50 米内邻居的残差高度同向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整片几公里的大趋势帮不上忙，真正有用的空间信息藏在“几十米内的邻居”里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66928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73152" cy="141732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5358384" cy="1252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4C72B0"/>
                </a:solidFill>
                <a:latin typeface="Microsoft YaHei"/>
              </a:rPr>
              <a:t>现象 1：整片区域的大范围弯曲趋势（平方项）没用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从回归 A 到回归 B，加上位置和平方项后，RMSE 只从 0.691 微降到 0.675。
• 只用训练数据做 F 检验：10 次划分里没有一次显著（p 全部 &gt; 0.10，划分 0 的 p = 0.34）。说明几公里尺度的“大趋势”解释不了 Cd 的波动。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669280" cy="1691640"/>
          </a:xfrm>
          <a:prstGeom prst="rect">
            <a:avLst/>
          </a:prstGeom>
          <a:solidFill>
            <a:srgbClr val="F9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73152" cy="1691640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00400"/>
            <a:ext cx="5358384" cy="1527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C04A3A"/>
                </a:solidFill>
                <a:latin typeface="Microsoft YaHei"/>
              </a:rPr>
              <a:t>现象 2：相距 50 米以内的邻居，回归 B 有 73% 的时候错在同一个方向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如果回归没有漏掉邻居信息，它在相邻两个点上“同时猜低”或“同时猜高”的比例应该像抛硬币一样，等于 50%。
• 实测（右图）：相距 &gt; 50 米的点对确实是 50%；但相距 ≤ 50 米的邻居点对，同向犯错比例高达 73%！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83480"/>
            <a:ext cx="5669280" cy="12618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73152" cy="126187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074920"/>
            <a:ext cx="535838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A78D6"/>
                </a:solidFill>
                <a:latin typeface="Microsoft YaHei"/>
              </a:rPr>
              <a:t>一句话解释 MOGP 赢回归 B 的机制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回归在一个点上猜低了，它旁边几十米的点多半也猜低了。
所以“邻居猜错了多少”本身就是极有用的信息——回归完全不用邻居，而 MOGP 正好把它用上了。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508760"/>
            <a:ext cx="5376672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3_neighbour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658" y="1572768"/>
            <a:ext cx="4959514" cy="4069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5687568"/>
            <a:ext cx="510235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图 3：相距 50 米以内的点对，回归 B 有 73% 的时候犯错方向一致，远超抛硬币的 50%（虚线）。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结论、如实说明的局限与下一步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严格按照第 5 页赛前定死的标准给出结论，不夸大、不隐瞒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4800600"/>
          </a:xfrm>
          <a:prstGeom prst="rect">
            <a:avLst/>
          </a:prstGeom>
          <a:solidFill>
            <a:srgbClr val="E8F0F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43891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17904"/>
            <a:ext cx="51206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一、按赛前标准的正式结论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29968"/>
            <a:ext cx="516636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2A78D6"/>
                </a:solidFill>
                <a:latin typeface="Microsoft YaHei"/>
              </a:rPr>
              <a:t>1. 主比较（MOGP 对 回归 B）：MOGP 更准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在掌握同样信息（Ni、Zn、位置）下，MOGP 平均少错 6.4%（0.632 vs 0.675），10/10 全胜，配对 t 检验 p = 0.0001。
赢的原因：抓住了 50 米内近邻的同向残差（73%），而大范围趋势（平方项）无显著帮助。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C04A3A"/>
                </a:solidFill>
                <a:latin typeface="Microsoft YaHei"/>
              </a:rPr>
              <a:t>2. 附加比较（MOGP 对 回归 C）：准确度无明显差别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简单回归加上“岩石类型 + 土地用途”后（0.637），几乎追平 MOGP（0.632），仅差 0.9%，p = 0.33。
启示：便宜现成的分类背景信息，能让简单方法追上复杂模型。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1E7E5A"/>
                </a:solidFill>
                <a:latin typeface="Microsoft YaHei"/>
              </a:rPr>
              <a:t>3. 误差范围：回归的区间比 MOGP 更可信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回归 B（94.4%）和回归 C（95.2%）的实际覆盖率非常接近 95%；MOGP 区间最窄，但覆盖率（92.3%）略低于 95%。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513832" cy="2606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513832" cy="43891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517904"/>
            <a:ext cx="51663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二、汇报里必须照实说明的局限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11680"/>
            <a:ext cx="5193792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C04A3A"/>
                </a:solidFill>
                <a:latin typeface="Microsoft YaHei"/>
              </a:rPr>
              <a:t>• 随机划分让“参考邻居”占了便宜：</a:t>
            </a:r>
            <a:r>
              <a:rPr sz="1200" b="0">
                <a:solidFill>
                  <a:srgbClr val="1F2937"/>
                </a:solidFill>
                <a:latin typeface="Microsoft YaHei"/>
              </a:rPr>
              <a:t>Jura 数据里不少采样点相距只有几十米（成簇分布）。随机抽 100 个测试点时，测试点身边常常恰好留有训练点，这对 MOGP 有利。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</a:rPr>
              <a:t>• 回归 C 与 MOGP 不是同信息对决：</a:t>
            </a:r>
            <a:r>
              <a:rPr sz="1200" b="0">
                <a:solidFill>
                  <a:srgbClr val="1F2937"/>
                </a:solidFill>
                <a:latin typeface="Microsoft YaHei"/>
              </a:rPr>
              <a:t>回归 C 多用了岩石和土地用途，MOGP 这次完全没用这两项信息。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</a:rPr>
              <a:t>• MOGP 的预测区间偏窄（92.3% &lt; 95%）：</a:t>
            </a:r>
            <a:r>
              <a:rPr sz="1200" b="0">
                <a:solidFill>
                  <a:srgbClr val="1F2937"/>
                </a:solidFill>
                <a:latin typeface="Microsoft YaHei"/>
              </a:rPr>
              <a:t>不确定度估计略微自信过头。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51960"/>
            <a:ext cx="5513832" cy="2011680"/>
          </a:xfrm>
          <a:prstGeom prst="rect">
            <a:avLst/>
          </a:prstGeom>
          <a:solidFill>
            <a:srgbClr val="F9EBE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251960"/>
            <a:ext cx="5513832" cy="438912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306824"/>
            <a:ext cx="51663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三、最自然的下一步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800600"/>
            <a:ext cx="51937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C04A3A"/>
                </a:solidFill>
                <a:latin typeface="Microsoft YaHei"/>
              </a:rPr>
              <a:t>把“土地用途/岩石”和“参考邻居”结合起来：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现在回归 C 知道土地用途但不知道邻居，MOGP 知道邻居但不知道土地用途。
下一步：把岩石和土地用途也给 MOGP（先用分类信息估一个“基础水平”，再用身边邻居修正残差），检验两者结合能不能更准，同时也让 C 与 MOGP 变成完全同信息的公平对决。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谢谢老师与同学！欢迎批评指正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所有实验代码（01_compare.py, 02_figures.py）与原始表格（results/*.csv）均可一键复现。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246120"/>
            <a:ext cx="10515600" cy="2743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456432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DB2D9"/>
                </a:solidFill>
                <a:latin typeface="Microsoft YaHei"/>
              </a:rPr>
              <a:t>已准备好的备用页（Backup Slides，提问时随时翻阅）：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2286000" cy="420624"/>
          </a:xfrm>
          <a:prstGeom prst="roundRect">
            <a:avLst>
              <a:gd name="adj" fmla="val 4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22860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7FA8E0"/>
                </a:solidFill>
                <a:latin typeface="Microsoft YaHei"/>
              </a:rPr>
              <a:t>备用页 B1（第 11 页）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032503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三个回归模型的完整系数表（系数、标准误、t 值、p 值、R²、调整后 R²）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79"/>
            <a:ext cx="2286000" cy="420624"/>
          </a:xfrm>
          <a:prstGeom prst="roundRect">
            <a:avLst>
              <a:gd name="adj" fmla="val 4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26279"/>
            <a:ext cx="22860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7FA8E0"/>
                </a:solidFill>
                <a:latin typeface="Microsoft YaHei"/>
              </a:rPr>
              <a:t>备用页 B2（第 12 页）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581143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回归 B 平方项的训练集 F 检验（10 次划分） + 小样本类别合并规则 + MOGP 设置自检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2286000" cy="420624"/>
          </a:xfrm>
          <a:prstGeom prst="roundRect">
            <a:avLst>
              <a:gd name="adj" fmla="val 4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22860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7FA8E0"/>
                </a:solidFill>
                <a:latin typeface="Microsoft YaHei"/>
              </a:rPr>
              <a:t>备用页 B3（第 13 页）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129783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图 2：四个模型的预测值 vs 真实值散点图（划分 0，100 个测试点）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59"/>
            <a:ext cx="2286000" cy="420624"/>
          </a:xfrm>
          <a:prstGeom prst="roundRect">
            <a:avLst>
              <a:gd name="adj" fmla="val 4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623559"/>
            <a:ext cx="22860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7FA8E0"/>
                </a:solidFill>
                <a:latin typeface="Microsoft YaHei"/>
              </a:rPr>
              <a:t>备用页 B4（第 14 页）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678423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图 3b：回归 B 的空间残差地图 + 测试点按“50 米内有无训练邻居”拆分的误差对比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致谢 / 备用页导航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备用页 1：三个回归模型的拟合系数表（划分 0，n = 259）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数据来源：results/coefficients_seed0.csv —— 土地用途第 1 类（Landuse_1）系数最大且最显著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</a:rPr>
              <a:t>■ 回归 A（R² = 0.541，调整后 0.538）与 回归 B（R² = 0.571，调整后 0.559）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19072"/>
          <a:ext cx="5349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143000"/>
                <a:gridCol w="1051560"/>
                <a:gridCol w="1005840"/>
                <a:gridCol w="1097280"/>
              </a:tblGrid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变量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系数 (SE)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t 值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p 值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A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截距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0.007 (0.042)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0.16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0.87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A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Ni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0.423 (0.063)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6.74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1.0e-10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A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Zn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0.406 (0.063)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6.45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5.4e-10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B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截距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−0.067 (0.073)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−0.91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0.36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B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Ni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0.400 (0.066)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6.09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4.3e-09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B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Zn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0.434 (0.064)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6.82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A78D6"/>
                          </a:solidFill>
                          <a:latin typeface="Microsoft YaHei"/>
                        </a:rPr>
                        <a:t>6.6e-11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B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X（东-西）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0.037 (0.054)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0.68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0.50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B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4A3A"/>
                          </a:solidFill>
                          <a:latin typeface="Microsoft YaHei"/>
                        </a:rPr>
                        <a:t>Y（南-北）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4A3A"/>
                          </a:solidFill>
                          <a:latin typeface="Microsoft YaHei"/>
                        </a:rPr>
                        <a:t>0.141 (0.040)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3.54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4A3A"/>
                          </a:solidFill>
                          <a:latin typeface="Microsoft YaHei"/>
                        </a:rPr>
                        <a:t>0.00047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B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X²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0.072 (0.043)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1.69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0.092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B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Y²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−0.006 (0.027)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−0.22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0.83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回归 B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X·Y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0.025 (0.048)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0.51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0.61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60" y="1389888"/>
            <a:ext cx="565099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</a:rPr>
              <a:t>■ 回归 C（R² = 0.652，调整后 R² = 0.635；参照类：Rock_2, Landuse_3）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80760" y="1719072"/>
          <a:ext cx="565099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08760"/>
                <a:gridCol w="1143000"/>
                <a:gridCol w="1463040"/>
              </a:tblGrid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回归 C 变量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系数 (标准误 SE)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t 值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p 值（显著性）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</a:rPr>
                        <a:t>截距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−0.388 (0.092)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−4.20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3.7e-05 ***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Ni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0.380 (0.073)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5.22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3.9e-07 ***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Zn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0.515 (0.062)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8.35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5.1e-15 ***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</a:rPr>
                        <a:t>X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0.031 (0.054)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0.57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0.57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Y（越往北越高）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0.123 (0.037)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3.34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A78D6"/>
                          </a:solidFill>
                          <a:latin typeface="Microsoft YaHei"/>
                        </a:rPr>
                        <a:t>0.00096 ***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</a:rPr>
                        <a:t>X²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0.062 (0.039)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1.60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</a:rPr>
                        <a:t>Y²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−0.015 (0.028)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−0.53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0.60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</a:rPr>
                        <a:t>X·Y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−0.022 (0.045)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−0.49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0.63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</a:rPr>
                        <a:t>Rock_1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0.297 (0.153)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1.94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0.054 .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</a:rPr>
                        <a:t>Rock_3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0.229 (0.118)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1.95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0.052 .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</a:rPr>
                        <a:t>Rock_5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0.269 (0.122)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2.21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0.028 *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4A3A"/>
                          </a:solidFill>
                          <a:latin typeface="Microsoft YaHei"/>
                        </a:rPr>
                        <a:t>Landuse_1（最关键）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4A3A"/>
                          </a:solidFill>
                          <a:latin typeface="Microsoft YaHei"/>
                        </a:rPr>
                        <a:t>0.876 (0.120)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4A3A"/>
                          </a:solidFill>
                          <a:latin typeface="Microsoft YaHei"/>
                        </a:rPr>
                        <a:t>7.32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4A3A"/>
                          </a:solidFill>
                          <a:latin typeface="Microsoft YaHei"/>
                        </a:rPr>
                        <a:t>3.5e-12 ***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4A3A"/>
                          </a:solidFill>
                          <a:latin typeface="Microsoft YaHei"/>
                        </a:rPr>
                        <a:t>Landuse_2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4A3A"/>
                          </a:solidFill>
                          <a:latin typeface="Microsoft YaHei"/>
                        </a:rPr>
                        <a:t>0.289 (0.098)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</a:rPr>
                        <a:t>2.94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4A3A"/>
                          </a:solidFill>
                          <a:latin typeface="Microsoft YaHei"/>
                        </a:rPr>
                        <a:t>0.0036 **</a:t>
                      </a:r>
                    </a:p>
                  </a:txBody>
                  <a:tcPr anchor="ctr" marL="91440" marR="91440" marT="54864" marB="54864">
                    <a:solidFill>
                      <a:srgbClr val="F9EBE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备用页 B1 /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备用页 2：平方项 F 检验、小类别合并规则与 MOGP 设置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回答老师可能追问的三个技术细节：为什么平方项留着不删？小类别怎么处理？MOGP 改没改参数？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</a:rPr>
              <a:t>1. 回归 B 平方项（X², Y², X·Y）的 F 检验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50" b="1">
                <a:solidFill>
                  <a:srgbClr val="1F2937"/>
                </a:solidFill>
                <a:latin typeface="Microsoft YaHei"/>
              </a:rPr>
              <a:t>只用训练数据检验（df₁=3, df₂=251）：10 次里 0 次 p &lt; 0.05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5120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划分 (seed)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F 统计量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p 值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是否 &lt; 0.05</a:t>
                      </a:r>
                    </a:p>
                  </a:txBody>
                  <a:tcPr anchor="ctr" marL="91440" marR="91440" marT="54864" marB="54864">
                    <a:solidFill>
                      <a:srgbClr val="1F2937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0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1.12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0.34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0.72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0.54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2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0.38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0.77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0.86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0.46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4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0.66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0.58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5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0.80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0.49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6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0.93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0.43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7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0.69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0.56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8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0.39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0.76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3F4F6"/>
                    </a:solidFill>
                  </a:tcPr>
                </a:tc>
              </a:tr>
              <a:tr h="38239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</a:rPr>
                        <a:t>划分 9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2.05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52160" y="1463040"/>
            <a:ext cx="5879592" cy="14630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63040"/>
            <a:ext cx="73152" cy="14630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1554480"/>
            <a:ext cx="5568696" cy="12984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2A78D6"/>
                </a:solidFill>
                <a:latin typeface="Microsoft YaHei"/>
              </a:rPr>
              <a:t>为什么 F 检验不显著，还是保留回归 B 的平方项？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• 这是赛前规则定死的：跑之前承诺回归 B 使用完整二次趋势面（X, Y, X², Y², X·Y）。
• 如果看到 F 检验不显著再去删改回归 B 的公式，就违背了“赛前定死参赛方式”的规则。而且保留或删去对 RMSE 影响极小。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3063240"/>
            <a:ext cx="5879592" cy="1691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3063240"/>
            <a:ext cx="73152" cy="1691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3154680"/>
            <a:ext cx="5568696" cy="1527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</a:rPr>
              <a:t>2. 岩石与土地用途的编码及小类别合并规则（赛前规定 &lt; 10 点并入最大类）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Microsoft YaHei"/>
              </a:rPr>
              <a:t>• 每一类建 0/1 列，并去掉点最多的那一类作为参照基准（避免与常数项完全共线）。
• 岩石类型（359 点）：Rock_2 最多（124 点，作参照类）；Rock_4 只有 6 个点（&lt;10），赛前规定并入 Rock_2；保留 Rock_1、Rock_3、Rock_5 三列。
• 土地用途（359 点）：Landuse_3 最多（218 点，作参照类）；Landuse_4 只有 8 个点（&lt;10），并入 Landuse_3；保留 Landuse_1、Landuse_2 两列。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4892040"/>
            <a:ext cx="5879592" cy="1353312"/>
          </a:xfrm>
          <a:prstGeom prst="rect">
            <a:avLst/>
          </a:prstGeom>
          <a:solidFill>
            <a:srgbClr val="F9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4892040"/>
            <a:ext cx="73152" cy="1353312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4983479"/>
            <a:ext cx="5568696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C04A3A"/>
                </a:solidFill>
                <a:latin typeface="Microsoft YaHei"/>
              </a:rPr>
              <a:t>3. MOGP 的设置与逐位自检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• 直接调用上一级 ../src/models.py 的 TrueLMC (Q=2)，精确 Cholesky 分解，Adam 训练 500 步（lr=0.05，初值 0.08 与 3.0 km）。
• 跑出来的 10 次 RMSE 与第一次汇报 stage10_robustness.csv 最大差仅 1.11×10⁻¹⁶。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备用页 B2 /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备用页 3：四个模型的预测值 vs 真实值散点图（划分 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横轴为真实的标准化 log(Cd)，纵轴为模型预测值；点越贴近对角虚线，预测越准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_pred_vs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5649"/>
            <a:ext cx="11000232" cy="337526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413248"/>
            <a:ext cx="11274552" cy="868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413248"/>
            <a:ext cx="73152" cy="86868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504688"/>
            <a:ext cx="10963656" cy="7040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2A78D6"/>
                </a:solidFill>
                <a:latin typeface="Microsoft YaHei"/>
              </a:rPr>
              <a:t>这张图说明了什么？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80" b="0">
                <a:solidFill>
                  <a:srgbClr val="1F2937"/>
                </a:solidFill>
                <a:latin typeface="Microsoft YaHei"/>
              </a:rPr>
              <a:t>在划分 0 的 100 个测试点上，回归 A（0.763）和回归 B（0.757）散得较开；加入岩石与土地用途后的回归 C（0.725）向对角线明显收拢，甚至在这一张考卷上比 MOGP（0.731）略微更准一点（10 张考卷里回归 C 赢了 4 次，MOGP 赢了 6 次）。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备用页 B3 /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12064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"/>
            <a:ext cx="106070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</a:rPr>
              <a:t>备用页 4：回归 B 的训练残差地图（划分 0，259 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</a:rPr>
              <a:t>为什么正文第 8 页没有直接放这张地图，而是改成了两根柱子（图 3）？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1663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b_residual_map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8" y="1536192"/>
            <a:ext cx="4836663" cy="4617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97880" y="1463040"/>
            <a:ext cx="5833872" cy="2148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1463040"/>
            <a:ext cx="73152" cy="21488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554480"/>
            <a:ext cx="5522976" cy="19842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A78D6"/>
                </a:solidFill>
                <a:latin typeface="Microsoft YaHei"/>
              </a:rPr>
              <a:t>为什么把这张残差地图移到备用页？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原计划是用这张地图展示“红点（猜低了）扎堆、蓝点（猜高了）扎堆”。
• 但画出来以后发现：整个研究区有 5 公里宽，而“挤在一起”的邻居点相距只有几十米（&lt; 0.05 公里），在 5 公里的地图上几乎重叠在一起，肉眼很难看清簇内的同色现象。
• 遵照 PPT 选图三原则（不能一眼看清就不放正文），正文改成了直接统计“50 米内点对同向犯错比例（73% vs 50%）”的柱状图。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3822191"/>
            <a:ext cx="5833872" cy="2441448"/>
          </a:xfrm>
          <a:prstGeom prst="rect">
            <a:avLst/>
          </a:prstGeom>
          <a:solidFill>
            <a:srgbClr val="F9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3822191"/>
            <a:ext cx="73152" cy="2441448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3913631"/>
            <a:ext cx="5522976" cy="22768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C04A3A"/>
                </a:solidFill>
                <a:latin typeface="Microsoft YaHei"/>
              </a:rPr>
              <a:t>如果老师问：“测试点里到底有多少个点身边 50 米内就有训练点？”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</a:rPr>
              <a:t>• 划分 0 的 100 个测试点中，有 40 个点在 50 米内就有训练点，60 个点在 50 米外。
• 有 50m 近邻的 40 个点：MOGP (0.592) 明显赢过 回归 B (0.640) 和 回归 C (0.634)。
• 无 50m 近邻的 60 个点：MOGP (0.811) 与 回归 B (0.826) 接近，且不如知道土地用途的 回归 C (0.780)。
• 这直接证实了第 9 页的结论：MOGP 靠近邻加分，回归 C 靠分类背景加分，两者天然互补。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Jura 土壤镉浓度预测 · 第二次汇报（公平比较 MOGP 与线性回归）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10528"/>
            <a:ext cx="1399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备用页 B4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