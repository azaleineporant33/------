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准备：若被追问'为什么不用线性回归'——同点线性回归Cd~Ni+Zn得RMSE=0.7629，LMC=0.7313。27%提升的大部分来自'用了同点Ni/Zn'这件事本身，GP只额外贡献约4.15%。但GP仍有净增益：(1)线性回归给不出校准的空间不确定度，而空间不确定度图是本研究的核心产出之一；(2)线性回归在没有同点Ni/Zn的位置完全失效，GP还能退回空间插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准备：若被问'lengthscale是不是崩了'(ICM学到0.079km，远小于0.25km的规则网格间距)——Jura是'规则网格(间距0.25km)+嵌套加密簇(簇内间距约0.01km)'的双峰采样设计，151/359(42%)的点在50m内有邻居。短程结构完全被数据支持，不是优化失败。见sampling_design.png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74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9DB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组会汇报 · JURA 数据集 · 多输出高斯过程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多输出高斯过程用于土壤镉浓度预测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290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Ni / Zn 的空间相关信息提升 Cd 预测精度 —— 独立 GP → ICM → LMC 全流程验证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251960"/>
            <a:ext cx="2926080" cy="0"/>
          </a:xfrm>
          <a:prstGeom prst="line">
            <a:avLst/>
          </a:prstGeom>
          <a:noFill/>
          <a:ln w="25400">
            <a:solidFill>
              <a:srgbClr val="4C72B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汇报人：Aza     </a:t>
            </a:r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8 月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512064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2733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52303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FA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359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7424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采样点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88920" y="512064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2733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88920" y="52303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FA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10/10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57424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划分获胜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512064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2733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54880" y="52303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FA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Q=2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57424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双尺度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 MOGP 组会汇报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817352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29184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研究背景：为什么用 Ni / Zn 帮 Cd 说话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镉（Cd）是土壤重金属污染的关键指标，但检测成本远高于镍（Ni）、锌（Zn）。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三种金属常有共同的地球化学成因——同源污染或矿化背景，空间上会一起出现。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核心问题：能不能用便宜、易测的 Ni / Zn，辅助预测昂贵的 Cd？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57200" y="4343400"/>
            <a:ext cx="6035040" cy="1691640"/>
          </a:xfrm>
          <a:prstGeom prst="roundRect">
            <a:avLst>
              <a:gd name="adj" fmla="val 4324"/>
            </a:avLst>
          </a:prstGeom>
          <a:solidFill>
            <a:srgbClr val="E3E9F5"/>
          </a:solidFill>
          <a:ln/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13232" y="4526280"/>
            <a:ext cx="55229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b="1" spc="100" kern="0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这是整个项目的前提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尺度下三金属两两空间相关性显著：Cd–Ni 0.654 / Cd–Zn 0.686 / Ni–Zn 0.699。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如果这个数字接近 0，后面所有多输出建模都没有意义。</a:t>
            </a:r>
            <a:endParaRPr lang="en-US" sz="1050" dirty="0"/>
          </a:p>
        </p:txBody>
      </p:sp>
      <p:pic>
        <p:nvPicPr>
          <p:cNvPr id="8" name="Image 0" descr="/tmp/crops/corr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8175" y="1463040"/>
            <a:ext cx="4846320" cy="287104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 MOGP 组会汇报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817352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29184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数据与问题设定：异位（heterotopic）划分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 数据集 —— 瑞士汝拉地区 359 个采样点，出自 Goovaerts (1997) 经典地质统计教材，经 OpenML（data_id=41554）分发。</a:t>
            </a:r>
            <a:endParaRPr lang="en-US" sz="14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6766560" cy="173736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3291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输出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观测数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角色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Cd（镉）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主变量 —— 另外 100 个位置藏起来做测试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Ni（镍）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辅助变量 —— 全部位置可见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Zn（锌）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辅助变量 —— 全部位置可见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160520"/>
            <a:ext cx="6766560" cy="1051560"/>
          </a:xfrm>
          <a:prstGeom prst="roundRect">
            <a:avLst>
              <a:gd name="adj" fmla="val 6957"/>
            </a:avLst>
          </a:prstGeom>
          <a:solidFill>
            <a:srgbClr val="F3E4E0"/>
          </a:solidFill>
          <a:ln/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13232" y="4343400"/>
            <a:ext cx="6254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b="1" spc="100" kern="0" dirty="0">
                <a:solidFill>
                  <a:srgbClr val="9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在那 100 个从未测过 Cd 的位置上预测 Cd 浓度 —— 现实动机是 Cd 的实验室检测成本明显高于 Ni / Zn。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5394960"/>
            <a:ext cx="676656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13232" y="5577840"/>
            <a:ext cx="6254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防止测试集泄漏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标准化只用训练观测计算均值 / 方差 —— Cd 用 259 个而非 359 个。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543800" y="2103120"/>
            <a:ext cx="4160520" cy="4069080"/>
          </a:xfrm>
          <a:prstGeom prst="roundRect">
            <a:avLst>
              <a:gd name="adj" fmla="val 2247"/>
            </a:avLst>
          </a:prstGeom>
          <a:solidFill>
            <a:srgbClr val="F3F4F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0" y="226771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异位（heterotopic）设计示意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818120" y="2788920"/>
            <a:ext cx="256032" cy="256032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11312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训练 (259)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818120" y="3794760"/>
            <a:ext cx="256032" cy="256032"/>
          </a:xfrm>
          <a:prstGeom prst="ellipse">
            <a:avLst/>
          </a:prstGeom>
          <a:solidFill>
            <a:srgbClr val="C0654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211312" y="3749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测试 (100，隐藏)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818120" y="4800600"/>
            <a:ext cx="256032" cy="256032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11312" y="4754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/ Zn (全 359 可见)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7818120" y="5532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/ Zn 在每一个 Cd 缺失的位置都提供了可借用的空间信息 —— 这正是多输出模型能生效的结构基础。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 MOGP 组会汇报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0817352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29184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方法路线：从独立 GP 到两种多输出模型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017520" cy="15544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1F2937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2240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独立 GP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700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9718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只用 259 个 Cd 观测，看不到 Ni / Zn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977640" y="210312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E3E9F5"/>
          </a:solidFill>
          <a:ln/>
          <a:effectLst>
            <a:outerShdw sx="100000" sy="100000" kx="0" ky="0" algn="bl" rotWithShape="0" blurRad="76200" dist="25400" dir="5400000">
              <a:srgbClr val="1F2937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206240" y="2240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7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ICM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6700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MOGP · Q = 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297180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k(x,x')·B[i,j]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单一空间尺度，所有输出共享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01000" y="2103120"/>
            <a:ext cx="3703320" cy="1554480"/>
          </a:xfrm>
          <a:prstGeom prst="roundRect">
            <a:avLst>
              <a:gd name="adj" fmla="val 5882"/>
            </a:avLst>
          </a:prstGeom>
          <a:solidFill>
            <a:srgbClr val="F3E4E0"/>
          </a:solidFill>
          <a:ln/>
          <a:effectLst>
            <a:outerShdw sx="100000" sy="100000" kx="0" ky="0" algn="bl" rotWithShape="0" blurRad="76200" dist="25400" dir="5400000">
              <a:srgbClr val="1F2937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LMC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670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MOGP · Q = 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2971800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Σ k_q(x,x')·B_q[i,j]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每个潜在函数各有一个尺度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74720" y="2779776"/>
            <a:ext cx="502920" cy="201168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8" name="Shape 16"/>
          <p:cNvSpPr/>
          <p:nvPr/>
        </p:nvSpPr>
        <p:spPr>
          <a:xfrm>
            <a:off x="7498080" y="2779776"/>
            <a:ext cx="502920" cy="201168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97764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13232" y="4160520"/>
            <a:ext cx="10735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关键关系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 是 LMC 在 Q = 1 时的特例；B 由 IndexKernel 参数化为 B = W·Wᵀ + diag(κ)。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937760"/>
            <a:ext cx="11247120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13232" y="5120640"/>
            <a:ext cx="10735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工程实现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三个模型统一用 Hadamard 长表形式实现（每行 = 坐标 + 任务编号 + 观测值），天然支持缺失观测 —— 代价是放弃 Kronecker 结构带来的加速，训练在 977 条长表记录上进行。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 MOGP 组会汇报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817352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29184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实验设计：怎么保证结论不是偶然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709928"/>
            <a:ext cx="457200" cy="457200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472184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次随机划分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160520" y="1472184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每次用不同随机种子重做 259 / 100 划分，并独立重新标准化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3F4F6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" y="2852928"/>
            <a:ext cx="457200" cy="457200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615184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配对比较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160520" y="2615184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同一划分下三个模型都跑一遍，用配对 t 检验 + Wilcoxon 检验比较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" y="3995928"/>
            <a:ext cx="457200" cy="457200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758184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评价指标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160520" y="3758184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个 hold-out Cd 位置上的测试 RMSE / MAE / NLL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7200" y="493776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3F4F6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" y="5138928"/>
            <a:ext cx="457200" cy="457200"/>
          </a:xfrm>
          <a:prstGeom prst="ellipse">
            <a:avLst/>
          </a:prstGeom>
          <a:solidFill>
            <a:srgbClr val="C0654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5138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4901184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数值精度保证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160520" y="4901184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强制精确 Cholesky 分解，避免默认近似带来的系统性偏差（细节见第 13 页）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 MOGP 组会汇报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817352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29184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核心结果：MOGP 显著优于单输出基线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1F2937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545336"/>
            <a:ext cx="32004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C7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+26.3%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2257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 相对独立 GP 的 RMSE 降幅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（±5.4%，10 次划分）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60520" y="14173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1F2937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343400" y="1545336"/>
            <a:ext cx="32004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6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+27.3%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232257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LMC (Q=2) 相对独立 GP 的 RMSE 降幅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（±4.5%，10 次划分）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63840" y="141732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1F2937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046720" y="1545336"/>
            <a:ext cx="3474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6×10⁻⁸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232257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配对 t 检验（独立 GP vs LMC）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 次划分全部获胜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6903720" cy="1600200"/>
        </p:xfrm>
        <a:graphic>
          <a:graphicData uri="http://schemas.openxmlformats.org/drawingml/2006/table">
            <a:tbl>
              <a:tblPr/>
              <a:tblGrid>
                <a:gridCol w="2880360"/>
                <a:gridCol w="219456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测试 RMSE（标准化）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相对独立 GP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独立 GP（基线）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0.8694 ± 0.0620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0.6399 ± 0.0619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+26.3% ± 5.4%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LMC (Q = 2)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0.6320 ± 0.0544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+27.3% ± 4.5%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0"/>
                    </a:solidFill>
                  </a:tcPr>
                </a:tc>
              </a:tr>
            </a:tbl>
          </a:graphicData>
        </a:graphic>
      </p:graphicFrame>
      <p:pic>
        <p:nvPicPr>
          <p:cNvPr id="15" name="Image 0" descr="/tmp/crops/robustness_box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9086" y="3017520"/>
            <a:ext cx="1961388" cy="17830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57200" y="489204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713232" y="5074920"/>
            <a:ext cx="10735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预先想到的问题：为什么不直接做线性回归？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同点普通线性回归 Cd ~ Ni + Zn 得 RMSE = 0.7629，LMC 为 0.7313 —— 27% 提升里大部分确实来自"用了同点 Ni/Zn"本身，GP 只多贡献约 4.15%。但线性回归给不出校准的空间不确定度，且在没有同点 Ni/Zn 的位置完全失效；GP 仍能退化为空间插值。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 MOGP 组会汇报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0817352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29184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次划分全部验证 —— 不是运气</a:t>
            </a:r>
            <a:endParaRPr lang="en-US" sz="2600" dirty="0"/>
          </a:p>
        </p:txBody>
      </p:sp>
      <p:pic>
        <p:nvPicPr>
          <p:cNvPr id="5" name="Image 0" descr="/tmp/crops/robustness_pai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413339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49640" y="1600200"/>
            <a:ext cx="315468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1F2937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732520" y="1728216"/>
            <a:ext cx="27889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C7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2.6×10⁻⁷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732520" y="2505456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 GP → ICM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配对划分获胜 10 / 10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549640" y="3154680"/>
            <a:ext cx="315468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1F2937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732520" y="3282696"/>
            <a:ext cx="27889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6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6.0×10⁻⁸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8732520" y="4059936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 GP → LMC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配对划分获胜 10 / 10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549640" y="484632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805672" y="5029200"/>
            <a:ext cx="2642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读法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每条灰线是同一次随机划分；均值点从左到右一路下降且几乎不交叉 —— 优势在每一种数据划分下都成立，而不是某一次划分运气好。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 MOGP 组会汇报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0817352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29184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提升从哪来：借用同位置信息，而非空间平滑</a:t>
            </a:r>
            <a:endParaRPr lang="en-US" sz="2600" dirty="0"/>
          </a:p>
        </p:txBody>
      </p:sp>
      <p:pic>
        <p:nvPicPr>
          <p:cNvPr id="5" name="Image 0" descr="/mnt/user-data/uploads/Research/figures/transect_predi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612" y="1371600"/>
            <a:ext cx="8520471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544068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3E4E0"/>
          </a:solidFill>
          <a:ln/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13232" y="5623560"/>
            <a:ext cx="10735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b="1" spc="100" kern="0" dirty="0">
                <a:solidFill>
                  <a:srgbClr val="9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关键数字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个测试点上，预测不确定度平均收窄 22.9%（GP 0.7521 → LMC 0.5799）；且收窄只发生在离最近采样点 &lt; 0.05 km 的范围内 —— 与 LMC 短程分量学到的 lengthscale（0.052 km）精确吻合。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 MOGP 组会汇报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817352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29184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深化：LMC 能拆出两个空间尺度</a:t>
            </a:r>
            <a:endParaRPr lang="en-US" sz="2600" dirty="0"/>
          </a:p>
        </p:txBody>
      </p:sp>
      <p:pic>
        <p:nvPicPr>
          <p:cNvPr id="5" name="Image 0" descr="/mnt/user-data/uploads/Research/figures/model_sel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771" y="1417320"/>
            <a:ext cx="11002152" cy="3977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553212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13232" y="5715000"/>
            <a:ext cx="10735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 与 AIC 独立一致选定 Q = 2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Q=2 的 BIC 比次优的 Q=1 低 53 个单位；只有第一个额外潜在函数"划算"（信息增益 108.7 vs 代价 55.1），Q=3 之后新增函数带来的收益都小于代价。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 MOGP 组会汇报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817352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29184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深化：两个尺度对应两种物理过程</a:t>
            </a:r>
            <a:endParaRPr lang="en-US" sz="2600" dirty="0"/>
          </a:p>
        </p:txBody>
      </p:sp>
      <p:pic>
        <p:nvPicPr>
          <p:cNvPr id="5" name="Image 0" descr="/mnt/user-data/uploads/Research/figures/stage9_latent_decompos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8514" y="1371600"/>
            <a:ext cx="9094668" cy="278892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51960"/>
          <a:ext cx="8138160" cy="960120"/>
        </p:xfrm>
        <a:graphic>
          <a:graphicData uri="http://schemas.openxmlformats.org/drawingml/2006/table">
            <a:tbl>
              <a:tblPr/>
              <a:tblGrid>
                <a:gridCol w="1554480"/>
                <a:gridCol w="1828800"/>
                <a:gridCol w="1554480"/>
                <a:gridCol w="1463040"/>
                <a:gridCol w="1737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潜在函数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空间尺度 ℓ (km)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 方差占比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Cd–Ni 相关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解读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q=1 短程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0.052 × 0.042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局部人为输入（污染）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q=2 长程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0.511 × 0.347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区域地质背景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778240" y="4251960"/>
            <a:ext cx="2926080" cy="1920240"/>
          </a:xfrm>
          <a:prstGeom prst="roundRect">
            <a:avLst>
              <a:gd name="adj" fmla="val 3810"/>
            </a:avLst>
          </a:prstGeom>
          <a:solidFill>
            <a:srgbClr val="F3E4E0"/>
          </a:solidFill>
          <a:ln/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034272" y="4434840"/>
            <a:ext cx="24140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b="1" spc="100" kern="0" dirty="0">
                <a:solidFill>
                  <a:srgbClr val="9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反直觉的一点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长程分量只占 Cd 先验方差的 22.3%，但在实际后验预测面的振幅贡献却高达 62.9%（短程仅 37.1%）—— 方差占比不等于实际影响力。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53492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长程分量的跨输出相关性接近 1，意味着三种金属在该尺度上是同一潜在场的线性缩放。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 MOGP 组会汇报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0817352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29184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深化：LMC 预测并不比 ICM 强 —— 主动说明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1F2937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545336"/>
            <a:ext cx="3200400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10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32050"/>
            <a:ext cx="320040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LMC 相对 ICM 的划分胜场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0.19（不显著）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3566160" cy="1417320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  <a:gridCol w="914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lengthscale (km)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Cd–Ni 相关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ICM（唯一一个）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(0.079, 0.058)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LMC q=1（短程）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(0.052, 0.042)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LMC q=2（长程）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(0.511, 0.347)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pic>
        <p:nvPicPr>
          <p:cNvPr id="9" name="Image 0" descr="/tmp/crops/blend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417320"/>
            <a:ext cx="4059296" cy="47091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4526280"/>
            <a:ext cx="6995160" cy="1783080"/>
          </a:xfrm>
          <a:prstGeom prst="roundRect">
            <a:avLst>
              <a:gd name="adj" fmla="val 4103"/>
            </a:avLst>
          </a:prstGeom>
          <a:solidFill>
            <a:srgbClr val="F3E4E0"/>
          </a:solidFill>
          <a:ln/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713232" y="4709160"/>
            <a:ext cx="64830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b="1" spc="100" kern="0" dirty="0">
                <a:solidFill>
                  <a:srgbClr val="9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主动承认，而不是被问到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我们检验了 LMC 是否比 ICM 预测得更准 —— 不显著。LMC 的价值不在预测精度，而在 ICM 结构上无法表达的双尺度分解：ICM 报告的单一相关系数 0.743，其实是 0.673（局部）与 0.941（区域）按方差加权后的混合，不对应任何真实过程。这个混合一度让我们误判"Cd 空间自相关弱"，放开尺度约束后才发现长程结构一直都在。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 MOGP 组会汇报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0817352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29184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小结：两条主线收拢到同一套流水线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40680" cy="2834640"/>
          </a:xfrm>
          <a:prstGeom prst="roundRect">
            <a:avLst>
              <a:gd name="adj" fmla="val 3226"/>
            </a:avLst>
          </a:prstGeom>
          <a:solidFill>
            <a:srgbClr val="E3E9F5"/>
          </a:solidFill>
          <a:ln/>
          <a:effectLst>
            <a:outerShdw sx="100000" sy="100000" kx="0" ky="0" algn="bl" rotWithShape="0" blurRad="76200" dist="25400" dir="5400000">
              <a:srgbClr val="1F2937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C7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性能提升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MOGP 显著、稳健地优于单输出基线（10/10 划分，p &lt; 10⁻⁶）。提升主要来自"能看到同位置 Ni/Zn"这一结构；相对同点线性回归，GP 仍有净增益（校准的不确定度 + 无同点信息时退化为空间插值）。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463040"/>
            <a:ext cx="5440680" cy="2834640"/>
          </a:xfrm>
          <a:prstGeom prst="roundRect">
            <a:avLst>
              <a:gd name="adj" fmla="val 3226"/>
            </a:avLst>
          </a:prstGeom>
          <a:solidFill>
            <a:srgbClr val="F3E4E0"/>
          </a:solidFill>
          <a:ln/>
          <a:effectLst>
            <a:outerShdw sx="100000" sy="100000" kx="0" ky="0" algn="bl" rotWithShape="0" blurRad="76200" dist="25400" dir="5400000">
              <a:srgbClr val="1F2937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92240" y="16916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6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可解释性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286000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LMC 拆解出真实的双尺度物理过程 —— 局部人为输入 vs 区域地质背景，并纠正了 ICM 单尺度约束带来的"Cd 空间自相关弱"的误判。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617720"/>
            <a:ext cx="11018520" cy="1508760"/>
          </a:xfrm>
          <a:prstGeom prst="roundRect">
            <a:avLst>
              <a:gd name="adj" fmla="val 4848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13232" y="4800600"/>
            <a:ext cx="10506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因果链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相关性存在（S2）→ 借用信息降低不确定度（S6-S8）→ 约束放开后看见真实的双尺度结构（S9-S10）→ 主动检验并说明这个结构不提升预测精度、但提升了可解释性（S11）。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 MOGP 组会汇报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817352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29184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工程实现的三个关键点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57200" cy="45720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4538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精确 Cholesky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977640" y="1453896"/>
            <a:ext cx="7726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GPyTorch 默认 max_cholesky_size=800，小于训练集 977 个观测。不修正会退化为 CG + 随机 Lanczos 近似：同一组参数重复求值方差达 0.0095，且系统性高估对数似然约 0.023–0.030，连模型选择的单调性都会被破坏。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90088"/>
            <a:ext cx="457200" cy="45720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93522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lengthscale 初值分散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2935224"/>
            <a:ext cx="7726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各潜在函数的 lengthscale 初值必须拉开。全设成相同值会导致梯度对称，Q&gt;1 会静默退化成 ICM（所有潜在函数收敛到同一个解）。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471416"/>
            <a:ext cx="457200" cy="45720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4471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4165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恒等性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4416552"/>
            <a:ext cx="7726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P=3 个输出时，IndexKernel 的 rank=1（B=WWᵀ+diag(κ)）已提供 3+3=6 个自由参数，恰好等于 3×3 半正定矩阵的全部自由度 —— 继续加 rank 纯属冗余，这是可以直接证明的恒等式，不需要额外做敏感性实验。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598932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13232" y="6172200"/>
            <a:ext cx="10735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这些坑不处理，很容易产出"看着对、实际上错"的数字。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 MOGP 组会汇报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0817352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329184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结论与下一步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这套异位 MOGP 流水线端到端跑通 —— 10 个阶段脚本全部可复现，性能提升可信、可解释性论证成熟。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1247120" cy="2880360"/>
          </a:xfrm>
          <a:prstGeom prst="roundRect">
            <a:avLst>
              <a:gd name="adj" fmla="val 3175"/>
            </a:avLst>
          </a:prstGeom>
          <a:solidFill>
            <a:srgbClr val="2733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560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A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这为下一步选题提供的技术基础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10607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一套完整方法论：面向"部分变量采集贵、部分变量采集便宜"的异位多输出空间数据 —— 建模、模型选择、稳健性检验、可解释性拆解全流程已验证。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稳健性与可辨识性已提前检验：数值精度、初值敏感性、rank 恒等性、采样设计对短程结构的支持，全部有据可查，不是事后补救。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可以迁移到下一个有类似结构的数据集或问题 —— 具体方向留待与老师讨论。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 MOGP 组会汇报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817352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谢谢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DB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欢迎提问与讨论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25400">
            <a:solidFill>
              <a:srgbClr val="4C72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全部数字可由 results/*.csv · *.json 复现 · 10 阶段流水线脚本见 src/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 MOGP 组会汇报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17352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2026-08-27T04:11:32Z</dcterms:created>
  <dcterms:modified xsi:type="dcterms:W3CDTF">2026-08-27T04:11:32Z</dcterms:modified>
</cp:coreProperties>
</file>