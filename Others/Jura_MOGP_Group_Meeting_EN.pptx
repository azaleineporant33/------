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73" r:id="rId6"/>
    <p:sldId id="258" r:id="rId7"/>
    <p:sldId id="259" r:id="rId8"/>
    <p:sldId id="260" r:id="rId9"/>
    <p:sldId id="261" r:id="rId10"/>
    <p:sldId id="274" r:id="rId11"/>
    <p:sldId id="262" r:id="rId12"/>
    <p:sldId id="263" r:id="rId13"/>
    <p:sldId id="264" r:id="rId14"/>
    <p:sldId id="265" r:id="rId15"/>
    <p:sldId id="267" r:id="rId16"/>
    <p:sldId id="268" r:id="rId17"/>
    <p:sldId id="269"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Good morning. Thank you for the time today.</a:t>
            </a:r>
            <a:endParaRPr lang="en-US" altLang="zh-CN" dirty="0"/>
          </a:p>
          <a:p>
            <a:r>
              <a:rPr lang="en-US" altLang="zh-CN" dirty="0"/>
              <a:t>My topic is: can we use cheap data to help predict expensive data? I use a soil dataset from Switzerland. I compare three models: a simple model, and two models that use more information.</a:t>
            </a:r>
            <a:endParaRPr lang="en-US" altLang="zh-CN" dirty="0"/>
          </a:p>
          <a:p>
            <a:r>
              <a:rPr lang="en-US" altLang="zh-CN" dirty="0"/>
              <a:t>Three numbers to remember: 359 sample points. 10 out of 10 — my result wins in every test. And Q = 2 — the best model uses two scales, not one.</a:t>
            </a:r>
            <a:endParaRPr lang="en-US" altLang="zh-CN" dirty="0"/>
          </a:p>
          <a:p>
            <a:r>
              <a:rPr lang="en-US" altLang="zh-CN" dirty="0"/>
              <a:t>Let's go through the story.</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why did I start this project?</a:t>
            </a:r>
            <a:endParaRPr lang="en-US" altLang="zh-CN" dirty="0"/>
          </a:p>
          <a:p>
            <a:r>
              <a:rPr lang="en-US" altLang="zh-CN" dirty="0"/>
              <a:t>Cadmium, or Cd, is a metal in soil. It is bad for health. But testing for Cd is expensive.</a:t>
            </a:r>
            <a:endParaRPr lang="en-US" altLang="zh-CN" dirty="0"/>
          </a:p>
          <a:p>
            <a:r>
              <a:rPr lang="en-US" altLang="zh-CN" dirty="0"/>
              <a:t>Nickel and zinc — Ni and Zn — are cheaper to test. And often, these three metals come from the same place. Same pollution, or same rock in the ground. So they tend to appear together.</a:t>
            </a:r>
            <a:endParaRPr lang="en-US" altLang="zh-CN" dirty="0"/>
          </a:p>
          <a:p>
            <a:r>
              <a:rPr lang="en-US" altLang="zh-CN" dirty="0"/>
              <a:t>My question was simple: can I use the cheap Ni and Zn data to help predict the expensive Cd data?</a:t>
            </a:r>
            <a:endParaRPr lang="en-US" altLang="zh-CN" dirty="0"/>
          </a:p>
          <a:p>
            <a:r>
              <a:rPr lang="en-US" altLang="zh-CN" dirty="0"/>
              <a:t>Before I built any model, I checked one thing first: are these three metals really related? I found the correlation is 0.65, 0.69, and 0.70. These numbers are not small. So yes, they are related. This is the reason the rest of my project makes sense.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Before modelling, I looked at the raw numbers.</a:t>
            </a:r>
            <a:endParaRPr lang="en-US" altLang="zh-CN"/>
          </a:p>
          <a:p>
            <a:r>
              <a:rPr lang="en-US" altLang="zh-CN"/>
              <a:t>Cd and Zn had a "right-skewed" shape. This means most values are small, but a few values are very large. So I used a log transform. After that, the shape became more symmetric, more like a normal bell curve.</a:t>
            </a:r>
            <a:endParaRPr lang="en-US" altLang="zh-CN"/>
          </a:p>
          <a:p>
            <a:r>
              <a:rPr lang="en-US" altLang="zh-CN"/>
              <a:t>But Ni was different. Ni was already close to symmetric before the transform. After I applied log to Ni, it actually became a little worse.</a:t>
            </a:r>
            <a:endParaRPr lang="en-US" altLang="zh-CN"/>
          </a:p>
          <a:p>
            <a:r>
              <a:rPr lang="en-US" altLang="zh-CN"/>
              <a:t>I want to be honest about this. I still used log for all three metals, because I need them on the same scale. But for Ni, this was not a perfect choice. It was a trade-off.</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the dataset. It is called the Jura dataset. It has 359 sample sites in the Jura mountains in Switzerland. It comes from a classic book by Goovaerts, published in 1997.</a:t>
            </a:r>
            <a:endParaRPr lang="en-US" altLang="zh-CN" dirty="0"/>
          </a:p>
          <a:p>
            <a:r>
              <a:rPr lang="en-US" altLang="zh-CN" dirty="0"/>
              <a:t>Look at this table. Cd has 259 points. I hide 100 more Cd points, to use later as a test. Ni and Zn are different — they are measured at all 359 points, with nothing hidden.</a:t>
            </a:r>
            <a:endParaRPr lang="en-US" altLang="zh-CN" dirty="0"/>
          </a:p>
          <a:p>
            <a:r>
              <a:rPr lang="en-US" altLang="zh-CN" dirty="0"/>
              <a:t>The task is: predict Cd at the 100 hidden points. This copies a real situation, where testing Cd costs more than testing Ni or Zn.</a:t>
            </a:r>
            <a:endParaRPr lang="en-US" altLang="zh-CN" dirty="0"/>
          </a:p>
          <a:p>
            <a:r>
              <a:rPr lang="en-US" altLang="zh-CN" dirty="0"/>
              <a:t>One important detail: when I compute the mean and the variance for standardization, I only use the 259 training points for Cd. Not all 359. If I used all 359, some test information would leak into training. I wanted to avoid that.</a:t>
            </a:r>
            <a:endParaRPr lang="en-US" altLang="zh-CN" dirty="0"/>
          </a:p>
          <a:p>
            <a:r>
              <a:rPr lang="en-US" altLang="zh-CN" dirty="0"/>
              <a:t>Look at the picture. At every site where Cd is missing, we still have Ni and Zn. This is the key idea. This is why a multi-output model can work here.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sym typeface="+mn-ea"/>
              </a:rPr>
              <a:t>Now let me explain the three models.</a:t>
            </a:r>
            <a:endParaRPr lang="en-US" altLang="zh-CN" dirty="0"/>
          </a:p>
          <a:p>
            <a:r>
              <a:rPr lang="en-US" altLang="zh-CN" dirty="0">
                <a:sym typeface="+mn-ea"/>
              </a:rPr>
              <a:t>The first model is an independent GP. GP means Gaussian Process. This is the baseline. It only uses the 259 Cd points. It cannot see Ni or Zn at all.</a:t>
            </a:r>
            <a:endParaRPr lang="en-US" altLang="zh-CN" dirty="0"/>
          </a:p>
          <a:p>
            <a:r>
              <a:rPr lang="en-US" altLang="zh-CN" dirty="0">
                <a:sym typeface="+mn-ea"/>
              </a:rPr>
              <a:t>The second model is called ICM. It is a multi-output model. It uses one spatial scale. This scale is shared by all three outputs.</a:t>
            </a:r>
            <a:endParaRPr lang="en-US" altLang="zh-CN" dirty="0"/>
          </a:p>
          <a:p>
            <a:r>
              <a:rPr lang="en-US" altLang="zh-CN" dirty="0">
                <a:sym typeface="+mn-ea"/>
              </a:rPr>
              <a:t>The third model is called LMC. It is also multi-output. But it can use more than one scale. Each part of the model — we call it a "latent function" — gets its own scale. In my case, I use two scales, so Q equals 2.</a:t>
            </a:r>
            <a:endParaRPr lang="en-US" altLang="zh-CN" dirty="0"/>
          </a:p>
          <a:p>
            <a:r>
              <a:rPr lang="en-US" altLang="zh-CN" dirty="0">
                <a:sym typeface="+mn-ea"/>
              </a:rPr>
              <a:t>Here is an important relationship: ICM is just a special case of LMC, when Q equals 1.</a:t>
            </a:r>
            <a:endParaRPr lang="en-US" altLang="zh-CN" dirty="0"/>
          </a:p>
          <a:p>
            <a:r>
              <a:rPr lang="en-US" altLang="zh-CN" dirty="0">
                <a:sym typeface="+mn-ea"/>
              </a:rPr>
              <a:t>One note about how I built this. I used a format called "long-table form." Each row has a location, a task number, and one measured value. A normal table cannot hold missing values well. But this long-table form can. The cost is: I lose a speed trick called the Kronecker speedup. Training uses 977 rows in total.</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Before I trust any result, I need to check: is it real, or just luck?</a:t>
            </a:r>
            <a:endParaRPr lang="en-US" altLang="zh-CN" dirty="0"/>
          </a:p>
          <a:p>
            <a:r>
              <a:rPr lang="en-US" altLang="zh-CN" dirty="0"/>
              <a:t>I did four things.</a:t>
            </a:r>
            <a:endParaRPr lang="en-US" altLang="zh-CN" dirty="0"/>
          </a:p>
          <a:p>
            <a:r>
              <a:rPr lang="en-US" altLang="zh-CN" dirty="0"/>
              <a:t>First, I ran 10 random splits. Each time, I chose the 100 hidden Cd points again, with a new random seed. And I standardized the data again, each time, from scratch.</a:t>
            </a:r>
            <a:endParaRPr lang="en-US" altLang="zh-CN" dirty="0"/>
          </a:p>
          <a:p>
            <a:r>
              <a:rPr lang="en-US" altLang="zh-CN" dirty="0"/>
              <a:t>Second, paired comparison. All three models run on the same split. Then I compare them using two statistical tests: a paired t-test, and a Wilcoxon test.</a:t>
            </a:r>
            <a:endParaRPr lang="en-US" altLang="zh-CN" dirty="0"/>
          </a:p>
          <a:p>
            <a:r>
              <a:rPr lang="en-US" altLang="zh-CN" dirty="0"/>
              <a:t>Third, my metrics. I use RMSE, MAE, and NLL. RMSE means: how big is the average prediction error. Lower is better.</a:t>
            </a:r>
            <a:endParaRPr lang="en-US" altLang="zh-CN" dirty="0"/>
          </a:p>
          <a:p>
            <a:r>
              <a:rPr lang="en-US" altLang="zh-CN" dirty="0"/>
              <a:t>Fourth, one technical setting I had to fix. The software, called GPyTorch, only uses an exact math method when the data has less than 800 points. I have 977 points. So I had to raise this limit by hand. Without this fix, the numbers become noisy and unreliable.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the main result.</a:t>
            </a:r>
            <a:endParaRPr lang="en-US" altLang="zh-CN" dirty="0"/>
          </a:p>
          <a:p>
            <a:r>
              <a:rPr lang="en-US" altLang="zh-CN" dirty="0"/>
              <a:t>ICM reduces the error by 26.3 percent, compared to the baseline. LMC reduces it by 27.3 percent. Both numbers come from an average over 10 splits.</a:t>
            </a:r>
            <a:endParaRPr lang="en-US" altLang="zh-CN" dirty="0"/>
          </a:p>
          <a:p>
            <a:r>
              <a:rPr lang="en-US" altLang="zh-CN" dirty="0"/>
              <a:t>The p-value is less than 0.001. A p-value tells us: how likely is this result, if there is really no true difference? A small p-value means: this result is probably real, not luck. And LMC wins on all 10 out of 10 splits.</a:t>
            </a:r>
            <a:endParaRPr lang="en-US" altLang="zh-CN" dirty="0"/>
          </a:p>
          <a:p>
            <a:r>
              <a:rPr lang="en-US" altLang="zh-CN" dirty="0"/>
              <a:t>Look at this table. Independent GP has an error of 0.87. ICM brings it down to 0.64. LMC brings it down to 0.63.</a:t>
            </a:r>
            <a:endParaRPr lang="en-US" altLang="zh-CN" dirty="0"/>
          </a:p>
          <a:p>
            <a:r>
              <a:rPr lang="en-US" altLang="zh-CN" dirty="0"/>
              <a:t>Now, one question I expected. Why not just use simple linear regression?</a:t>
            </a:r>
            <a:endParaRPr lang="en-US" altLang="zh-CN" dirty="0"/>
          </a:p>
          <a:p>
            <a:r>
              <a:rPr lang="en-US" altLang="zh-CN" dirty="0"/>
              <a:t>I tried it. A plain regression, using Cd, Ni, and Zn at the same location, gives an error of 0.76. LMC gives 0.73. So most of the improvement really comes from just having Ni and Zn at the same place. The GP model only adds about 4 percent more.</a:t>
            </a:r>
            <a:endParaRPr lang="en-US" altLang="zh-CN" dirty="0"/>
          </a:p>
          <a:p>
            <a:r>
              <a:rPr lang="en-US" altLang="zh-CN" dirty="0"/>
              <a:t>But I still think the GP is worth using. Two reasons. First, linear regression cannot tell us how confident it is. The GP can. Second, linear regression completely fails where Ni and Zn are missing. But the GP can still make a reasonable guess there, using nearby points.</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picture shows the predictions directly.</a:t>
            </a:r>
            <a:endParaRPr lang="en-US" altLang="zh-CN"/>
          </a:p>
          <a:p>
            <a:r>
              <a:rPr lang="en-US" altLang="zh-CN"/>
              <a:t>Each dot is one test site. The x-axis is the true Cd value. The y-axis is the predicted value. A dot on the dashed line means a perfect prediction.</a:t>
            </a:r>
            <a:endParaRPr lang="en-US" altLang="zh-CN"/>
          </a:p>
          <a:p>
            <a:r>
              <a:rPr lang="en-US" altLang="zh-CN"/>
              <a:t>Look at the three plots, left to right: independent GP, then ICM, then LMC. You can see the dots move closer to the line. This is the same improvement we just saw in the RMSE numbers, but now you can see it directly.</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I want to confirm: is this improvement stable? Or did I just get lucky one time?</a:t>
            </a:r>
            <a:endParaRPr lang="en-US" altLang="zh-CN" dirty="0"/>
          </a:p>
          <a:p>
            <a:r>
              <a:rPr lang="en-US" altLang="zh-CN" dirty="0"/>
              <a:t>Here, each grey line is one random split. From independent GP to ICM, and from independent GP to LMC, both p-values are less than 0.001. And the win rate is 10 out of 10, both times.</a:t>
            </a:r>
            <a:endParaRPr lang="en-US" altLang="zh-CN" dirty="0"/>
          </a:p>
          <a:p>
            <a:r>
              <a:rPr lang="en-US" altLang="zh-CN" dirty="0"/>
              <a:t>Look at the lines. They go down from left to right. They almost never cross each other. This tells me the improvement is stable. It does not depend on one lucky split.</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a deeper question: where, exactly, does this improvement come from?</a:t>
            </a:r>
            <a:endParaRPr lang="en-US" altLang="zh-CN" dirty="0"/>
          </a:p>
          <a:p>
            <a:r>
              <a:rPr lang="en-US" altLang="zh-CN" dirty="0"/>
              <a:t>Across the 100 test points, the uncertainty becomes about 23 percent smaller, on average. But — and this is important — this only happens within about 0.05 kilometers of a real sample point.</a:t>
            </a:r>
            <a:endParaRPr lang="en-US" altLang="zh-CN" dirty="0"/>
          </a:p>
          <a:p>
            <a:r>
              <a:rPr lang="en-US" altLang="zh-CN" dirty="0"/>
              <a:t>This number, 0.05 kilometers, is very close to a number the model learned by itself: 0.052 kilometers. This is called a "lengthscale." It tells the model how far away two points can still affect each other.</a:t>
            </a:r>
            <a:endParaRPr lang="en-US" altLang="zh-CN" dirty="0"/>
          </a:p>
          <a:p>
            <a:r>
              <a:rPr lang="en-US" altLang="zh-CN" dirty="0"/>
              <a:t>So my idea is: the improvement comes from borrowing information at the same location. It is not simple smoothing over a large area.</a:t>
            </a:r>
            <a:endParaRPr lang="en-US" altLang="zh-CN" dirty="0"/>
          </a:p>
          <a:p>
            <a:endParaRPr lang="en-US" altLang="zh-CN" dirty="0"/>
          </a:p>
          <a:p>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Let's look at this on a map.</a:t>
            </a:r>
            <a:endParaRPr lang="en-US" altLang="zh-CN" dirty="0"/>
          </a:p>
          <a:p>
            <a:r>
              <a:rPr lang="en-US" altLang="zh-CN" dirty="0"/>
              <a:t>Top row: predicted Cd values, for independent GP and for LMC, and the difference between them. LMC follows the local details more closely.</a:t>
            </a:r>
            <a:endParaRPr lang="en-US" altLang="zh-CN" dirty="0"/>
          </a:p>
          <a:p>
            <a:r>
              <a:rPr lang="en-US" altLang="zh-CN" dirty="0"/>
              <a:t>Bottom row: how uncertain each model is. On the right, the percentage change. Red areas mean LMC is more confident than independent GP. Notice — red areas sit almost exactly on the sample points. In the empty areas between points, there is very little gain.</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This slide checks the same idea, using numbers.</a:t>
            </a:r>
            <a:endParaRPr lang="en-US" altLang="zh-CN" dirty="0"/>
          </a:p>
          <a:p>
            <a:r>
              <a:rPr lang="en-US" altLang="zh-CN" dirty="0"/>
              <a:t>The two curves — GP and LMC — cross at about 0.05 kilometers. The lengthscale the model learned is 0.052 kilometers. These two numbers are almost the same.</a:t>
            </a:r>
            <a:endParaRPr lang="en-US" altLang="zh-CN" dirty="0"/>
          </a:p>
          <a:p>
            <a:r>
              <a:rPr lang="en-US" altLang="zh-CN" dirty="0"/>
              <a:t>For reference, the average distance between neighboring points is 0.125 kilometers. The regular grid spacing is 0.25 kilometers.</a:t>
            </a:r>
            <a:endParaRPr lang="en-US" altLang="zh-CN" dirty="0"/>
          </a:p>
          <a:p>
            <a:r>
              <a:rPr lang="en-US" altLang="zh-CN" dirty="0"/>
              <a:t>Since the crossing point matches the learned lengthscale so closely, I believe the borrowing effect really is limited to about one lengthscale. It does not reach much further than that.</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something I find interesting.</a:t>
            </a:r>
            <a:endParaRPr lang="en-US" altLang="zh-CN" dirty="0"/>
          </a:p>
          <a:p>
            <a:r>
              <a:rPr lang="en-US" altLang="zh-CN" dirty="0"/>
              <a:t>Look at this table. The LMC model, with Q equals 2, learned two separate scales.</a:t>
            </a:r>
            <a:endParaRPr lang="en-US" altLang="zh-CN" dirty="0"/>
          </a:p>
          <a:p>
            <a:r>
              <a:rPr lang="en-US" altLang="zh-CN" dirty="0"/>
              <a:t>The first one is short-range. Its scale is about 50 meters. It explains 77.7 percent of the variation in Cd. Its correlation with Ni is 0.673. My guess is: this represents local pollution. Something added by human activity, close to the surface.</a:t>
            </a:r>
            <a:endParaRPr lang="en-US" altLang="zh-CN" dirty="0"/>
          </a:p>
          <a:p>
            <a:r>
              <a:rPr lang="en-US" altLang="zh-CN" dirty="0"/>
              <a:t>The second one is long-range. Its scale is about 500 meters. It explains only 22.3 percent of the variation in Cd. But its correlation with Ni is 0.941 — very close to 1. My guess is: this represents the regional geology. The natural rock and soil under a wide area.</a:t>
            </a:r>
            <a:endParaRPr lang="en-US" altLang="zh-CN" dirty="0"/>
          </a:p>
          <a:p>
            <a:r>
              <a:rPr lang="en-US" altLang="zh-CN" dirty="0"/>
              <a:t>Here is something surprising. Even though the long-range part explains only 22 percent of the variance, it actually contributes 63 percent of the shape we see in the final prediction map. So explaining variance, and having real influence on the result, are not the same thing.</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I want to share something honestly, before anyone asks.</a:t>
            </a:r>
            <a:endParaRPr lang="en-US" altLang="zh-CN" dirty="0"/>
          </a:p>
          <a:p>
            <a:r>
              <a:rPr lang="en-US" altLang="zh-CN" dirty="0"/>
              <a:t>I expected LMC to predict better than ICM. But the test says: no, not significantly. LMC only won 5 out of 10 splits. The p-value is 0.19. This is not significant. So I cannot say LMC predicts more accurately.</a:t>
            </a:r>
            <a:endParaRPr lang="en-US" altLang="zh-CN" dirty="0"/>
          </a:p>
          <a:p>
            <a:r>
              <a:rPr lang="en-US" altLang="zh-CN" dirty="0"/>
              <a:t>But I noticed something else. Look at the table. ICM has only one correlation number: about 0.74. LMC splits this into two numbers: 0.67 and 0.94. And ICM's single number sits almost exactly between them.</a:t>
            </a:r>
            <a:endParaRPr lang="en-US" altLang="zh-CN" dirty="0"/>
          </a:p>
          <a:p>
            <a:r>
              <a:rPr lang="en-US" altLang="zh-CN" dirty="0"/>
              <a:t>My understanding is: ICM is mixing two different things into one average number. Its structure cannot separate them. This mixed number also caused an earlier mistake of mine — at first, I thought Cd's spatial correlation was weak. But that was wrong. It was just this averaging effect hiding the real structure.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Let me summarize.</a:t>
            </a:r>
            <a:endParaRPr lang="en-US" altLang="zh-CN" dirty="0"/>
          </a:p>
          <a:p>
            <a:r>
              <a:rPr lang="en-US" altLang="zh-CN" dirty="0"/>
              <a:t>What improved: both multi-output models beat the baseline, on all 10 splits. The improvement mostly comes from having Ni and Zn measured at the same location. Compared to simple linear regression, the GP still adds value — a real uncertainty estimate, and the ability to keep predicting where data is missing.</a:t>
            </a:r>
            <a:endParaRPr lang="en-US" altLang="zh-CN" dirty="0"/>
          </a:p>
          <a:p>
            <a:r>
              <a:rPr lang="en-US" altLang="zh-CN" dirty="0"/>
              <a:t>What I found interesting: with Q equals 2, LMC separates a short-range part and a long-range part. I believe these connect to local pollution and regional geology. But I want more evidence before I say this firmly.</a:t>
            </a:r>
            <a:endParaRPr lang="en-US" altLang="zh-CN" dirty="0"/>
          </a:p>
          <a:p>
            <a:r>
              <a:rPr lang="en-US" altLang="zh-CN" dirty="0"/>
              <a:t>How the slides connect: the correlation exists — that is slide 2. Borrowing information reduces uncertainty — slides 6 to 10. Allowing two scales reveals the real structure — slide 11. But this structure does not improve prediction accuracy — I tested this honestly, and reported it, on slide 12.</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Finally, I want to be clear about what I still need to learn.</a:t>
            </a:r>
            <a:endParaRPr lang="en-US" altLang="zh-CN" dirty="0"/>
          </a:p>
          <a:p>
            <a:r>
              <a:rPr lang="en-US" altLang="zh-CN" dirty="0"/>
              <a:t>First, how to properly choose Q. I only compared Q equals 1 and Q equals 2. This is the smallest possible test, to check if more than one scale exists. But choosing the right number of scales needs model-selection tools, like BIC or AIC. I am still learning this part.</a:t>
            </a:r>
            <a:endParaRPr lang="en-US" altLang="zh-CN" dirty="0"/>
          </a:p>
          <a:p>
            <a:r>
              <a:rPr lang="en-US" altLang="zh-CN" dirty="0"/>
              <a:t>Second, my model uses one shared noise value for all three metals. I have not checked if giving each metal its own noise value would matter.</a:t>
            </a:r>
            <a:endParaRPr lang="en-US" altLang="zh-CN" dirty="0"/>
          </a:p>
          <a:p>
            <a:r>
              <a:rPr lang="en-US" altLang="zh-CN" dirty="0"/>
              <a:t>Third, I have only tested this on one dataset. And the whole improvement depends on Ni and Zn being measured at the same location as Cd. I do not yet know what happens when they are not.</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Thank you very much for listening.</a:t>
            </a:r>
            <a:endParaRPr lang="en-US" altLang="zh-CN" dirty="0"/>
          </a:p>
          <a:p>
            <a:r>
              <a:rPr lang="en-US" altLang="zh-CN" dirty="0"/>
              <a:t>All the numbers in these slides can be reproduced from my result files. All my code is organized and available.</a:t>
            </a:r>
            <a:endParaRPr lang="en-US" altLang="zh-CN" dirty="0"/>
          </a:p>
          <a:p>
            <a:r>
              <a:rPr lang="en-US" altLang="zh-CN" dirty="0"/>
              <a:t>I am happy to take any questions now.</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Text 0"/>
          <p:cNvSpPr txBox="1"/>
          <p:nvPr/>
        </p:nvSpPr>
        <p:spPr>
          <a:xfrm>
            <a:off x="822960" y="1874520"/>
            <a:ext cx="10515600" cy="365760"/>
          </a:xfrm>
          <a:prstGeom prst="rect">
            <a:avLst/>
          </a:prstGeom>
          <a:noFill/>
        </p:spPr>
        <p:txBody>
          <a:bodyPr wrap="square" lIns="0" tIns="0" rIns="0" bIns="0" rtlCol="0" anchor="ctr"/>
          <a:lstStyle/>
          <a:p>
            <a:pPr marL="0" indent="0">
              <a:buNone/>
            </a:pPr>
            <a:r>
              <a:rPr lang="en-US" sz="1300" kern="0" spc="200" dirty="0">
                <a:solidFill>
                  <a:srgbClr val="9DB2D9"/>
                </a:solidFill>
                <a:latin typeface="Calibri" panose="020F0502020204030204" pitchFamily="34" charset="0"/>
                <a:ea typeface="Calibri" panose="020F0502020204030204" pitchFamily="34" charset="-122"/>
                <a:cs typeface="Calibri" panose="020F0502020204030204" pitchFamily="34" charset="-120"/>
              </a:rPr>
              <a:t>GROUP MEETING · JURA DATASET · MULTI-OUTPUT GAUSSIAN PROCESSES</a:t>
            </a:r>
            <a:endParaRPr lang="en-US" sz="1300" dirty="0"/>
          </a:p>
        </p:txBody>
      </p:sp>
      <p:sp>
        <p:nvSpPr>
          <p:cNvPr id="3" name="Text 1"/>
          <p:cNvSpPr txBox="1"/>
          <p:nvPr/>
        </p:nvSpPr>
        <p:spPr>
          <a:xfrm>
            <a:off x="822960" y="2286000"/>
            <a:ext cx="10515600" cy="1188720"/>
          </a:xfrm>
          <a:prstGeom prst="rect">
            <a:avLst/>
          </a:prstGeom>
          <a:noFill/>
        </p:spPr>
        <p:txBody>
          <a:bodyPr wrap="square" lIns="0" tIns="0" rIns="0" bIns="0" rtlCol="0" anchor="ctr"/>
          <a:lstStyle/>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Multi-Output Gaussian Processes for Soil Cadmium Prediction</a:t>
            </a:r>
            <a:endParaRPr lang="en-US" sz="4000" dirty="0"/>
          </a:p>
        </p:txBody>
      </p:sp>
      <p:sp>
        <p:nvSpPr>
          <p:cNvPr id="4" name="Text 2"/>
          <p:cNvSpPr txBox="1"/>
          <p:nvPr/>
        </p:nvSpPr>
        <p:spPr>
          <a:xfrm>
            <a:off x="822960" y="3429000"/>
            <a:ext cx="9875520" cy="640080"/>
          </a:xfrm>
          <a:prstGeom prst="rect">
            <a:avLst/>
          </a:prstGeom>
          <a:noFill/>
        </p:spPr>
        <p:txBody>
          <a:bodyPr wrap="square" lIns="0" tIns="0" rIns="0" bIns="0" rtlCol="0" anchor="ctr"/>
          <a:lstStyle/>
          <a:p>
            <a:pPr marL="0" indent="0">
              <a:buNone/>
            </a:pPr>
            <a:r>
              <a:rPr lang="en-US" sz="1600" dirty="0">
                <a:solidFill>
                  <a:srgbClr val="CBD5E1"/>
                </a:solidFill>
                <a:latin typeface="Calibri" panose="020F0502020204030204" pitchFamily="34" charset="0"/>
                <a:ea typeface="Calibri" panose="020F0502020204030204" pitchFamily="34" charset="-122"/>
                <a:cs typeface="Calibri" panose="020F0502020204030204" pitchFamily="34" charset="-120"/>
              </a:rPr>
              <a:t>Trying to use Ni / Zn to help predict Cd - comparing an independent GP, ICM, and LMC (Q=2)</a:t>
            </a:r>
            <a:endParaRPr lang="en-US" sz="1600" dirty="0"/>
          </a:p>
        </p:txBody>
      </p:sp>
      <p:sp>
        <p:nvSpPr>
          <p:cNvPr id="5" name="Shape 3"/>
          <p:cNvSpPr/>
          <p:nvPr/>
        </p:nvSpPr>
        <p:spPr>
          <a:xfrm>
            <a:off x="822960" y="4251960"/>
            <a:ext cx="2926080" cy="0"/>
          </a:xfrm>
          <a:prstGeom prst="line">
            <a:avLst/>
          </a:prstGeom>
          <a:noFill/>
          <a:ln w="25400">
            <a:solidFill>
              <a:srgbClr val="4C72B0"/>
            </a:solidFill>
            <a:prstDash val="solid"/>
          </a:ln>
        </p:spPr>
        <p:txBody>
          <a:bodyPr/>
          <a:p/>
        </p:txBody>
      </p:sp>
      <p:sp>
        <p:nvSpPr>
          <p:cNvPr id="6" name="Text 4"/>
          <p:cNvSpPr txBox="1"/>
          <p:nvPr/>
        </p:nvSpPr>
        <p:spPr>
          <a:xfrm>
            <a:off x="822960" y="4434840"/>
            <a:ext cx="7315200" cy="365760"/>
          </a:xfrm>
          <a:prstGeom prst="rect">
            <a:avLst/>
          </a:prstGeom>
          <a:noFill/>
        </p:spPr>
        <p:txBody>
          <a:bodyPr wrap="square" lIns="0" tIns="0" rIns="0" bIns="0" rtlCol="0" anchor="ctr"/>
          <a:lstStyle/>
          <a:p>
            <a:pPr marL="0" indent="0">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Presented by: Cai haozhang     </a:t>
            </a:r>
            <a:r>
              <a:rPr lang="en-US" sz="1250" dirty="0">
                <a:solidFill>
                  <a:srgbClr val="9CA3AF"/>
                </a:solidFill>
                <a:latin typeface="Calibri" panose="020F0502020204030204" pitchFamily="34" charset="0"/>
                <a:ea typeface="Calibri" panose="020F0502020204030204" pitchFamily="34" charset="-122"/>
                <a:cs typeface="Calibri" panose="020F0502020204030204" pitchFamily="34" charset="-120"/>
              </a:rPr>
              <a:t>8.28 2026</a:t>
            </a:r>
            <a:endParaRPr lang="en-US" sz="1250" dirty="0"/>
          </a:p>
        </p:txBody>
      </p:sp>
      <p:sp>
        <p:nvSpPr>
          <p:cNvPr id="16" name="Text 14"/>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9CA3AF"/>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7" name="Text 15"/>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9CA3AF"/>
                </a:solidFill>
                <a:latin typeface="Calibri" panose="020F0502020204030204" pitchFamily="34" charset="0"/>
                <a:ea typeface="Calibri" panose="020F0502020204030204" pitchFamily="34" charset="-122"/>
                <a:cs typeface="Calibri" panose="020F0502020204030204"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Why I thought Ni / Zn might help predict Cd</a:t>
            </a:r>
            <a:endParaRPr lang="en-US" sz="2600" dirty="0"/>
          </a:p>
        </p:txBody>
      </p:sp>
      <p:sp>
        <p:nvSpPr>
          <p:cNvPr id="5" name="Text 3"/>
          <p:cNvSpPr txBox="1"/>
          <p:nvPr/>
        </p:nvSpPr>
        <p:spPr>
          <a:xfrm>
            <a:off x="457200" y="1417320"/>
            <a:ext cx="6035040" cy="2743200"/>
          </a:xfrm>
          <a:prstGeom prst="rect">
            <a:avLst/>
          </a:prstGeom>
          <a:noFill/>
        </p:spPr>
        <p:txBody>
          <a:bodyPr wrap="square" lIns="0" tIns="0" rIns="0" bIns="0" rtlCol="0" anchor="ctr"/>
          <a:lstStyle/>
          <a:p>
            <a:pPr marL="342900" indent="-342900">
              <a:lnSpc>
                <a:spcPct val="125000"/>
              </a:lnSpc>
              <a:spcAft>
                <a:spcPts val="1000"/>
              </a:spcAft>
              <a:buSzPct val="100000"/>
              <a:buChar char="•"/>
            </a:pPr>
            <a:r>
              <a:rPr lang="en-US" sz="1550" dirty="0">
                <a:solidFill>
                  <a:srgbClr val="1F2937"/>
                </a:solidFill>
                <a:latin typeface="Calibri" panose="020F0502020204030204" pitchFamily="34" charset="0"/>
                <a:ea typeface="Calibri" panose="020F0502020204030204" pitchFamily="34" charset="-122"/>
                <a:cs typeface="Calibri" panose="020F0502020204030204" pitchFamily="34" charset="-120"/>
              </a:rPr>
              <a:t>Cadmium (Cd) is an important indicator of soil heavy-metal contamination, but measuring it costs more than nickel (Ni) or zinc (Zn).</a:t>
            </a:r>
            <a:endParaRPr lang="en-US" sz="1550" dirty="0"/>
          </a:p>
          <a:p>
            <a:pPr marL="342900" indent="-342900">
              <a:lnSpc>
                <a:spcPct val="125000"/>
              </a:lnSpc>
              <a:spcAft>
                <a:spcPts val="1000"/>
              </a:spcAft>
              <a:buSzPct val="100000"/>
              <a:buChar char="•"/>
            </a:pPr>
            <a:r>
              <a:rPr lang="en-US" sz="1550" dirty="0">
                <a:solidFill>
                  <a:srgbClr val="1F2937"/>
                </a:solidFill>
                <a:latin typeface="Calibri" panose="020F0502020204030204" pitchFamily="34" charset="0"/>
                <a:ea typeface="Calibri" panose="020F0502020204030204" pitchFamily="34" charset="-122"/>
                <a:cs typeface="Calibri" panose="020F0502020204030204" pitchFamily="34" charset="-120"/>
              </a:rPr>
              <a:t>These three metals often come from the same source - pollution, or the local geology - so I expected them to appear together spatially.</a:t>
            </a:r>
            <a:endParaRPr lang="en-US" sz="1550" dirty="0"/>
          </a:p>
          <a:p>
            <a:pPr marL="342900" indent="-342900">
              <a:lnSpc>
                <a:spcPct val="125000"/>
              </a:lnSpc>
              <a:spcAft>
                <a:spcPts val="1000"/>
              </a:spcAft>
              <a:buSzPct val="100000"/>
              <a:buChar char="•"/>
            </a:pPr>
            <a:r>
              <a:rPr lang="en-US" sz="1550" dirty="0">
                <a:solidFill>
                  <a:srgbClr val="1F2937"/>
                </a:solidFill>
                <a:latin typeface="Calibri" panose="020F0502020204030204" pitchFamily="34" charset="0"/>
                <a:ea typeface="Calibri" panose="020F0502020204030204" pitchFamily="34" charset="-122"/>
                <a:cs typeface="Calibri" panose="020F0502020204030204" pitchFamily="34" charset="-120"/>
              </a:rPr>
              <a:t>So the question I started from: can the cheaper Ni / Zn measurements help predict the more expensive Cd?</a:t>
            </a:r>
            <a:endParaRPr lang="en-US" sz="1550" dirty="0"/>
          </a:p>
        </p:txBody>
      </p:sp>
      <p:sp>
        <p:nvSpPr>
          <p:cNvPr id="6" name="Shape 4"/>
          <p:cNvSpPr/>
          <p:nvPr/>
        </p:nvSpPr>
        <p:spPr>
          <a:xfrm>
            <a:off x="457200" y="4343400"/>
            <a:ext cx="6035040" cy="1691640"/>
          </a:xfrm>
          <a:prstGeom prst="roundRect">
            <a:avLst>
              <a:gd name="adj" fmla="val 4324"/>
            </a:avLst>
          </a:prstGeom>
          <a:solidFill>
            <a:srgbClr val="E3E9F5"/>
          </a:solidFill>
          <a:effectLst>
            <a:outerShdw blurRad="76200" dist="25400" dir="5400000" algn="bl" rotWithShape="0">
              <a:srgbClr val="1F2937">
                <a:alpha val="12000"/>
              </a:srgbClr>
            </a:outerShdw>
          </a:effectLst>
        </p:spPr>
        <p:txBody>
          <a:bodyPr/>
          <a:p/>
        </p:txBody>
      </p:sp>
      <p:sp>
        <p:nvSpPr>
          <p:cNvPr id="7" name="Text 5"/>
          <p:cNvSpPr txBox="1"/>
          <p:nvPr/>
        </p:nvSpPr>
        <p:spPr>
          <a:xfrm>
            <a:off x="713232" y="4526280"/>
            <a:ext cx="5522976" cy="132588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4C72B0"/>
                </a:solidFill>
                <a:latin typeface="Calibri" panose="020F0502020204030204" pitchFamily="34" charset="0"/>
                <a:ea typeface="Calibri" panose="020F0502020204030204" pitchFamily="34" charset="-122"/>
                <a:cs typeface="Calibri" panose="020F0502020204030204" pitchFamily="34" charset="-120"/>
              </a:rPr>
              <a:t>Why I checked this first</a:t>
            </a:r>
            <a:endParaRPr lang="en-US" sz="1050" dirty="0"/>
          </a:p>
          <a:p>
            <a:pPr marL="0" indent="0">
              <a:lnSpc>
                <a:spcPct val="115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On the log scale the three pairwise correlations are 0.65 / 0.69 / 0.70, which is fairly strong.</a:t>
            </a:r>
            <a:endParaRPr lang="en-US" sz="1050" dirty="0"/>
          </a:p>
          <a:p>
            <a:pPr marL="0" indent="0">
              <a:lnSpc>
                <a:spcPct val="115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If these had been close to 0, there would have been no point doing any of the multi-output modelling.</a:t>
            </a:r>
            <a:endParaRPr lang="en-US" sz="1050" dirty="0"/>
          </a:p>
        </p:txBody>
      </p:sp>
      <p:pic>
        <p:nvPicPr>
          <p:cNvPr id="8" name="Image 0" descr="/tmp/crops/corr_heatmap.png"/>
          <p:cNvPicPr>
            <a:picLocks noChangeAspect="1"/>
          </p:cNvPicPr>
          <p:nvPr/>
        </p:nvPicPr>
        <p:blipFill>
          <a:blip r:embed="rId1"/>
          <a:stretch>
            <a:fillRect/>
          </a:stretch>
        </p:blipFill>
        <p:spPr>
          <a:xfrm>
            <a:off x="6888175" y="1463040"/>
            <a:ext cx="4846320" cy="2871043"/>
          </a:xfrm>
          <a:prstGeom prst="rect">
            <a:avLst/>
          </a:prstGeom>
        </p:spPr>
      </p:pic>
      <p:sp>
        <p:nvSpPr>
          <p:cNvPr id="9" name="Text 6"/>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0" name="Text 7"/>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First, I looked at the raw data</a:t>
            </a:r>
            <a:endParaRPr lang="en-US" sz="2600" dirty="0"/>
          </a:p>
        </p:txBody>
      </p:sp>
      <p:sp>
        <p:nvSpPr>
          <p:cNvPr id="6" name="Shape 3"/>
          <p:cNvSpPr/>
          <p:nvPr/>
        </p:nvSpPr>
        <p:spPr>
          <a:xfrm>
            <a:off x="457200" y="5440680"/>
            <a:ext cx="11247120" cy="1051560"/>
          </a:xfrm>
          <a:prstGeom prst="roundRect">
            <a:avLst>
              <a:gd name="adj" fmla="val 6957"/>
            </a:avLst>
          </a:prstGeom>
          <a:solidFill>
            <a:srgbClr val="F3F4F6"/>
          </a:solidFill>
          <a:effectLst>
            <a:outerShdw blurRad="76200" dist="25400" dir="5400000" algn="bl" rotWithShape="0">
              <a:srgbClr val="1F2937">
                <a:alpha val="12000"/>
              </a:srgbClr>
            </a:outerShdw>
          </a:effectLst>
        </p:spPr>
        <p:txBody>
          <a:bodyPr/>
          <a:p/>
        </p:txBody>
      </p:sp>
      <p:sp>
        <p:nvSpPr>
          <p:cNvPr id="7" name="Text 4"/>
          <p:cNvSpPr txBox="1"/>
          <p:nvPr/>
        </p:nvSpPr>
        <p:spPr>
          <a:xfrm>
            <a:off x="713232" y="5623560"/>
            <a:ext cx="10735056" cy="68580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What I saw</a:t>
            </a:r>
            <a:endParaRPr lang="en-US" sz="1050" dirty="0"/>
          </a:p>
          <a:p>
            <a:pPr marL="0" indent="0">
              <a:lnSpc>
                <a:spcPct val="115000"/>
              </a:lnSpc>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Cd and Zn were right-skewed, so I log-transformed them, which made them roughly symmetric. Ni was already close to symmetric, and the transform made it slightly worse (skew -1.13 vs +0.11) - I kept it anyway so all three metals share one scale.</a:t>
            </a:r>
            <a:endParaRPr lang="en-US" sz="1050" dirty="0"/>
          </a:p>
        </p:txBody>
      </p:sp>
      <p:sp>
        <p:nvSpPr>
          <p:cNvPr id="8" name="Text 5"/>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9" name="Text 6"/>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3 / 17</a:t>
            </a:r>
            <a:endParaRPr lang="en-US" sz="900" dirty="0"/>
          </a:p>
        </p:txBody>
      </p:sp>
      <p:pic>
        <p:nvPicPr>
          <p:cNvPr id="10" name="Picture 9" descr="jura_eda.png"/>
          <p:cNvPicPr>
            <a:picLocks noChangeAspect="1"/>
          </p:cNvPicPr>
          <p:nvPr/>
        </p:nvPicPr>
        <p:blipFill>
          <a:blip r:embed="rId1"/>
          <a:stretch>
            <a:fillRect/>
          </a:stretch>
        </p:blipFill>
        <p:spPr>
          <a:xfrm>
            <a:off x="3501734" y="1371600"/>
            <a:ext cx="5188226" cy="3977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The dataset and how I split it</a:t>
            </a:r>
            <a:endParaRPr lang="en-US" sz="2600" dirty="0"/>
          </a:p>
        </p:txBody>
      </p:sp>
      <p:sp>
        <p:nvSpPr>
          <p:cNvPr id="5" name="Text 3"/>
          <p:cNvSpPr txBox="1"/>
          <p:nvPr/>
        </p:nvSpPr>
        <p:spPr>
          <a:xfrm>
            <a:off x="457200" y="1371600"/>
            <a:ext cx="11247120" cy="548640"/>
          </a:xfrm>
          <a:prstGeom prst="rect">
            <a:avLst/>
          </a:prstGeom>
          <a:noFill/>
        </p:spPr>
        <p:txBody>
          <a:bodyPr wrap="square" lIns="0" tIns="0" rIns="0" bIns="0" rtlCol="0" anchor="ctr"/>
          <a:lstStyle/>
          <a:p>
            <a:pPr marL="0" indent="0">
              <a:buNone/>
            </a:pPr>
            <a:r>
              <a:rPr lang="en-US" sz="1450" dirty="0">
                <a:solidFill>
                  <a:srgbClr val="1F2937"/>
                </a:solidFill>
                <a:latin typeface="Calibri" panose="020F0502020204030204" pitchFamily="34" charset="0"/>
                <a:ea typeface="Calibri" panose="020F0502020204030204" pitchFamily="34" charset="-122"/>
                <a:cs typeface="Calibri" panose="020F0502020204030204" pitchFamily="34" charset="-120"/>
              </a:rPr>
              <a:t>Jura dataset - 359 sampling sites in the Swiss Jura region, from Goovaerts (1997). I obtained it through OpenML (data_id=41554).</a:t>
            </a:r>
            <a:endParaRPr lang="en-US" sz="1450" dirty="0"/>
          </a:p>
        </p:txBody>
      </p:sp>
      <p:graphicFrame>
        <p:nvGraphicFramePr>
          <p:cNvPr id="6" name="Table 0"/>
          <p:cNvGraphicFramePr>
            <a:graphicFrameLocks noGrp="1"/>
          </p:cNvGraphicFramePr>
          <p:nvPr/>
        </p:nvGraphicFramePr>
        <p:xfrm>
          <a:off x="457200" y="2103120"/>
          <a:ext cx="6766560" cy="1746504"/>
        </p:xfrm>
        <a:graphic>
          <a:graphicData uri="http://schemas.openxmlformats.org/drawingml/2006/table">
            <a:tbl>
              <a:tblPr/>
              <a:tblGrid>
                <a:gridCol w="2011680"/>
                <a:gridCol w="1463040"/>
                <a:gridCol w="3291840"/>
              </a:tblGrid>
              <a:tr h="45720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Output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Observations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Role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r>
              <a:tr h="429768">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Cd (cadmium)</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259</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Target variable -- 100 further sites held out for testing</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r h="429768">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Ni (nickel)</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359</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Auxiliary variable -- observed everywhere</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29768">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Zn (zinc)</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359</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Auxiliary variable -- observed everywhere</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bl>
          </a:graphicData>
        </a:graphic>
      </p:graphicFrame>
      <p:sp>
        <p:nvSpPr>
          <p:cNvPr id="7" name="Shape 4"/>
          <p:cNvSpPr/>
          <p:nvPr/>
        </p:nvSpPr>
        <p:spPr>
          <a:xfrm>
            <a:off x="457200" y="4160520"/>
            <a:ext cx="6766560" cy="1051560"/>
          </a:xfrm>
          <a:prstGeom prst="roundRect">
            <a:avLst>
              <a:gd name="adj" fmla="val 6957"/>
            </a:avLst>
          </a:prstGeom>
          <a:solidFill>
            <a:srgbClr val="F3E4E0"/>
          </a:solidFill>
          <a:effectLst>
            <a:outerShdw blurRad="76200" dist="25400" dir="5400000" algn="bl" rotWithShape="0">
              <a:srgbClr val="1F2937">
                <a:alpha val="12000"/>
              </a:srgbClr>
            </a:outerShdw>
          </a:effectLst>
        </p:spPr>
        <p:txBody>
          <a:bodyPr/>
          <a:p/>
        </p:txBody>
      </p:sp>
      <p:sp>
        <p:nvSpPr>
          <p:cNvPr id="8" name="Text 5"/>
          <p:cNvSpPr txBox="1"/>
          <p:nvPr/>
        </p:nvSpPr>
        <p:spPr>
          <a:xfrm>
            <a:off x="713232" y="4343400"/>
            <a:ext cx="6254496" cy="68580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9C4A3A"/>
                </a:solidFill>
                <a:latin typeface="Calibri" panose="020F0502020204030204" pitchFamily="34" charset="0"/>
                <a:ea typeface="Calibri" panose="020F0502020204030204" pitchFamily="34" charset="-122"/>
                <a:cs typeface="Calibri" panose="020F0502020204030204" pitchFamily="34" charset="-120"/>
              </a:rPr>
              <a:t>Task</a:t>
            </a:r>
            <a:endParaRPr lang="en-US" sz="1050" dirty="0"/>
          </a:p>
          <a:p>
            <a:pPr marL="0" indent="0">
              <a:lnSpc>
                <a:spcPct val="115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Predict Cd at the 100 sites where I hid it. This setup imitates the real situation, where Cd assays cost more than Ni / Zn.</a:t>
            </a:r>
            <a:endParaRPr lang="en-US" sz="1050" dirty="0"/>
          </a:p>
        </p:txBody>
      </p:sp>
      <p:sp>
        <p:nvSpPr>
          <p:cNvPr id="9" name="Shape 6"/>
          <p:cNvSpPr/>
          <p:nvPr/>
        </p:nvSpPr>
        <p:spPr>
          <a:xfrm>
            <a:off x="457200" y="5394960"/>
            <a:ext cx="6766560" cy="777240"/>
          </a:xfrm>
          <a:prstGeom prst="roundRect">
            <a:avLst>
              <a:gd name="adj" fmla="val 9412"/>
            </a:avLst>
          </a:prstGeom>
          <a:solidFill>
            <a:srgbClr val="F3F4F6"/>
          </a:solidFill>
          <a:effectLst>
            <a:outerShdw blurRad="76200" dist="25400" dir="5400000" algn="bl" rotWithShape="0">
              <a:srgbClr val="1F2937">
                <a:alpha val="12000"/>
              </a:srgbClr>
            </a:outerShdw>
          </a:effectLst>
        </p:spPr>
        <p:txBody>
          <a:bodyPr/>
          <a:p/>
        </p:txBody>
      </p:sp>
      <p:sp>
        <p:nvSpPr>
          <p:cNvPr id="10" name="Text 7"/>
          <p:cNvSpPr txBox="1"/>
          <p:nvPr/>
        </p:nvSpPr>
        <p:spPr>
          <a:xfrm>
            <a:off x="713232" y="5577840"/>
            <a:ext cx="6254496" cy="41148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Avoiding test-set leakage</a:t>
            </a:r>
            <a:endParaRPr lang="en-US" sz="1050" dirty="0"/>
          </a:p>
          <a:p>
            <a:pPr marL="0" indent="0">
              <a:lnSpc>
                <a:spcPct val="115000"/>
              </a:lnSpc>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I computed the standardisation mean / variance from training data only - 259 Cd points, not 359.</a:t>
            </a:r>
            <a:endParaRPr lang="en-US" sz="1050" dirty="0"/>
          </a:p>
        </p:txBody>
      </p:sp>
      <p:sp>
        <p:nvSpPr>
          <p:cNvPr id="11" name="Shape 8"/>
          <p:cNvSpPr/>
          <p:nvPr/>
        </p:nvSpPr>
        <p:spPr>
          <a:xfrm>
            <a:off x="7543800" y="2103120"/>
            <a:ext cx="4160520" cy="4069080"/>
          </a:xfrm>
          <a:prstGeom prst="roundRect">
            <a:avLst>
              <a:gd name="adj" fmla="val 2247"/>
            </a:avLst>
          </a:prstGeom>
          <a:solidFill>
            <a:srgbClr val="F3F4F6"/>
          </a:solidFill>
        </p:spPr>
        <p:txBody>
          <a:bodyPr/>
          <a:p/>
        </p:txBody>
      </p:sp>
      <p:sp>
        <p:nvSpPr>
          <p:cNvPr id="12" name="Text 9"/>
          <p:cNvSpPr txBox="1"/>
          <p:nvPr/>
        </p:nvSpPr>
        <p:spPr>
          <a:xfrm>
            <a:off x="7772400" y="2267712"/>
            <a:ext cx="3703320" cy="365760"/>
          </a:xfrm>
          <a:prstGeom prst="rect">
            <a:avLst/>
          </a:prstGeom>
          <a:noFill/>
        </p:spPr>
        <p:txBody>
          <a:bodyPr wrap="square" lIns="0" tIns="0" rIns="0" bIns="0" rtlCol="0" anchor="ctr"/>
          <a:lstStyle/>
          <a:p>
            <a:pPr marL="0" indent="0">
              <a:buNone/>
            </a:pPr>
            <a:r>
              <a:rPr lang="en-US" sz="1250" b="1" dirty="0">
                <a:solidFill>
                  <a:srgbClr val="334155"/>
                </a:solidFill>
                <a:latin typeface="Calibri" panose="020F0502020204030204" pitchFamily="34" charset="0"/>
                <a:ea typeface="Calibri" panose="020F0502020204030204" pitchFamily="34" charset="-122"/>
                <a:cs typeface="Calibri" panose="020F0502020204030204" pitchFamily="34" charset="-120"/>
              </a:rPr>
              <a:t>Heterotopic Design, Schematically</a:t>
            </a:r>
            <a:endParaRPr lang="en-US" sz="1250" dirty="0"/>
          </a:p>
        </p:txBody>
      </p:sp>
      <p:sp>
        <p:nvSpPr>
          <p:cNvPr id="13" name="Shape 10"/>
          <p:cNvSpPr/>
          <p:nvPr/>
        </p:nvSpPr>
        <p:spPr>
          <a:xfrm>
            <a:off x="7818120" y="2788920"/>
            <a:ext cx="256032" cy="256032"/>
          </a:xfrm>
          <a:prstGeom prst="ellipse">
            <a:avLst/>
          </a:prstGeom>
          <a:solidFill>
            <a:srgbClr val="4C72B0"/>
          </a:solidFill>
        </p:spPr>
        <p:txBody>
          <a:bodyPr/>
          <a:p/>
        </p:txBody>
      </p:sp>
      <p:sp>
        <p:nvSpPr>
          <p:cNvPr id="14" name="Text 11"/>
          <p:cNvSpPr txBox="1"/>
          <p:nvPr/>
        </p:nvSpPr>
        <p:spPr>
          <a:xfrm>
            <a:off x="8211312" y="2743200"/>
            <a:ext cx="3291840" cy="365760"/>
          </a:xfrm>
          <a:prstGeom prst="rect">
            <a:avLst/>
          </a:prstGeom>
          <a:noFill/>
        </p:spPr>
        <p:txBody>
          <a:bodyPr wrap="square" lIns="0" tIns="0" rIns="0" bIns="0" rtlCol="0" anchor="ct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Cd training (259)</a:t>
            </a:r>
            <a:endParaRPr lang="en-US" sz="1250" dirty="0"/>
          </a:p>
        </p:txBody>
      </p:sp>
      <p:sp>
        <p:nvSpPr>
          <p:cNvPr id="15" name="Shape 12"/>
          <p:cNvSpPr/>
          <p:nvPr/>
        </p:nvSpPr>
        <p:spPr>
          <a:xfrm>
            <a:off x="7818120" y="3794760"/>
            <a:ext cx="256032" cy="256032"/>
          </a:xfrm>
          <a:prstGeom prst="ellipse">
            <a:avLst/>
          </a:prstGeom>
          <a:solidFill>
            <a:srgbClr val="C0654F"/>
          </a:solidFill>
        </p:spPr>
        <p:txBody>
          <a:bodyPr/>
          <a:p/>
        </p:txBody>
      </p:sp>
      <p:sp>
        <p:nvSpPr>
          <p:cNvPr id="16" name="Text 13"/>
          <p:cNvSpPr txBox="1"/>
          <p:nvPr/>
        </p:nvSpPr>
        <p:spPr>
          <a:xfrm>
            <a:off x="8211312" y="3749040"/>
            <a:ext cx="3291840" cy="365760"/>
          </a:xfrm>
          <a:prstGeom prst="rect">
            <a:avLst/>
          </a:prstGeom>
          <a:noFill/>
        </p:spPr>
        <p:txBody>
          <a:bodyPr wrap="square" lIns="0" tIns="0" rIns="0" bIns="0" rtlCol="0" anchor="ct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Cd test (100, hidden)</a:t>
            </a:r>
            <a:endParaRPr lang="en-US" sz="1250" dirty="0"/>
          </a:p>
        </p:txBody>
      </p:sp>
      <p:sp>
        <p:nvSpPr>
          <p:cNvPr id="17" name="Shape 14"/>
          <p:cNvSpPr/>
          <p:nvPr/>
        </p:nvSpPr>
        <p:spPr>
          <a:xfrm>
            <a:off x="7818120" y="4800600"/>
            <a:ext cx="256032" cy="256032"/>
          </a:xfrm>
          <a:prstGeom prst="ellipse">
            <a:avLst/>
          </a:prstGeom>
          <a:solidFill>
            <a:srgbClr val="9CA3AF"/>
          </a:solidFill>
        </p:spPr>
        <p:txBody>
          <a:bodyPr/>
          <a:p/>
        </p:txBody>
      </p:sp>
      <p:sp>
        <p:nvSpPr>
          <p:cNvPr id="18" name="Text 15"/>
          <p:cNvSpPr txBox="1"/>
          <p:nvPr/>
        </p:nvSpPr>
        <p:spPr>
          <a:xfrm>
            <a:off x="8211312" y="4754880"/>
            <a:ext cx="3291840" cy="365760"/>
          </a:xfrm>
          <a:prstGeom prst="rect">
            <a:avLst/>
          </a:prstGeom>
          <a:noFill/>
        </p:spPr>
        <p:txBody>
          <a:bodyPr wrap="square" lIns="0" tIns="0" rIns="0" bIns="0" rtlCol="0" anchor="ct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Ni / Zn (all 359 visible)</a:t>
            </a:r>
            <a:endParaRPr lang="en-US" sz="1250" dirty="0"/>
          </a:p>
        </p:txBody>
      </p:sp>
      <p:sp>
        <p:nvSpPr>
          <p:cNvPr id="19" name="Text 16"/>
          <p:cNvSpPr txBox="1"/>
          <p:nvPr/>
        </p:nvSpPr>
        <p:spPr>
          <a:xfrm>
            <a:off x="7818120" y="5532120"/>
            <a:ext cx="3657600" cy="548640"/>
          </a:xfrm>
          <a:prstGeom prst="rect">
            <a:avLst/>
          </a:prstGeom>
          <a:noFill/>
        </p:spPr>
        <p:txBody>
          <a:bodyPr wrap="square" lIns="0" tIns="0" rIns="0" bIns="0" rtlCol="0" anchor="ctr"/>
          <a:lstStyle/>
          <a:p>
            <a:pPr marL="0" indent="0">
              <a:lnSpc>
                <a:spcPct val="115000"/>
              </a:lnSpc>
              <a:buNone/>
            </a:pPr>
            <a:r>
              <a:rPr lang="en-US" sz="1100" i="1" dirty="0">
                <a:solidFill>
                  <a:srgbClr val="6B7280"/>
                </a:solidFill>
                <a:latin typeface="Calibri" panose="020F0502020204030204" pitchFamily="34" charset="0"/>
                <a:ea typeface="Calibri" panose="020F0502020204030204" pitchFamily="34" charset="-122"/>
                <a:cs typeface="Calibri" panose="020F0502020204030204" pitchFamily="34" charset="-120"/>
              </a:rPr>
              <a:t>At every site where Cd is hidden, Ni and Zn are still measured. This is the part that makes multi-output modelling possible here.</a:t>
            </a:r>
            <a:endParaRPr lang="en-US" sz="1100" dirty="0"/>
          </a:p>
        </p:txBody>
      </p:sp>
      <p:sp>
        <p:nvSpPr>
          <p:cNvPr id="20" name="Text 17"/>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21" name="Text 18"/>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The three models I compared</a:t>
            </a:r>
            <a:endParaRPr lang="en-US" sz="2600" dirty="0"/>
          </a:p>
        </p:txBody>
      </p:sp>
      <p:sp>
        <p:nvSpPr>
          <p:cNvPr id="5" name="Shape 3"/>
          <p:cNvSpPr/>
          <p:nvPr/>
        </p:nvSpPr>
        <p:spPr>
          <a:xfrm>
            <a:off x="457200" y="2103120"/>
            <a:ext cx="3017520" cy="1554480"/>
          </a:xfrm>
          <a:prstGeom prst="roundRect">
            <a:avLst>
              <a:gd name="adj" fmla="val 5882"/>
            </a:avLst>
          </a:prstGeom>
          <a:solidFill>
            <a:srgbClr val="F3F4F6"/>
          </a:solidFill>
          <a:effectLst>
            <a:outerShdw blurRad="76200" dist="25400" dir="5400000" algn="bl" rotWithShape="0">
              <a:srgbClr val="1F2937">
                <a:alpha val="10000"/>
              </a:srgbClr>
            </a:outerShdw>
          </a:effectLst>
        </p:spPr>
        <p:txBody>
          <a:bodyPr/>
          <a:p/>
        </p:txBody>
      </p:sp>
      <p:sp>
        <p:nvSpPr>
          <p:cNvPr id="6" name="Text 4"/>
          <p:cNvSpPr txBox="1"/>
          <p:nvPr/>
        </p:nvSpPr>
        <p:spPr>
          <a:xfrm>
            <a:off x="685800" y="2240280"/>
            <a:ext cx="2560320" cy="457200"/>
          </a:xfrm>
          <a:prstGeom prst="rect">
            <a:avLst/>
          </a:prstGeom>
          <a:noFill/>
        </p:spPr>
        <p:txBody>
          <a:bodyPr wrap="square" lIns="0" tIns="0" rIns="0" bIns="0" rtlCol="0" anchor="ctr"/>
          <a:lstStyle/>
          <a:p>
            <a:pPr marL="0" indent="0">
              <a:buNone/>
            </a:pPr>
            <a:r>
              <a:rPr lang="en-US" sz="2200" b="1" dirty="0">
                <a:solidFill>
                  <a:srgbClr val="334155"/>
                </a:solidFill>
                <a:latin typeface="Cambria" panose="02040503050406030204" pitchFamily="34" charset="0"/>
                <a:ea typeface="Cambria" panose="02040503050406030204" pitchFamily="34" charset="-122"/>
                <a:cs typeface="Cambria" panose="02040503050406030204" pitchFamily="34" charset="-120"/>
              </a:rPr>
              <a:t>Independent GP</a:t>
            </a:r>
            <a:endParaRPr lang="en-US" sz="2200" dirty="0"/>
          </a:p>
        </p:txBody>
      </p:sp>
      <p:sp>
        <p:nvSpPr>
          <p:cNvPr id="7" name="Text 5"/>
          <p:cNvSpPr txBox="1"/>
          <p:nvPr/>
        </p:nvSpPr>
        <p:spPr>
          <a:xfrm>
            <a:off x="685800" y="2670048"/>
            <a:ext cx="2560320" cy="274320"/>
          </a:xfrm>
          <a:prstGeom prst="rect">
            <a:avLst/>
          </a:prstGeom>
          <a:noFill/>
        </p:spPr>
        <p:txBody>
          <a:bodyPr wrap="square" lIns="0" tIns="0" rIns="0" bIns="0" rtlCol="0" anchor="ctr"/>
          <a:lstStyle/>
          <a:p>
            <a:pPr marL="0" indent="0">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baseline</a:t>
            </a:r>
            <a:endParaRPr lang="en-US" sz="1100" dirty="0"/>
          </a:p>
        </p:txBody>
      </p:sp>
      <p:sp>
        <p:nvSpPr>
          <p:cNvPr id="8" name="Text 6"/>
          <p:cNvSpPr txBox="1"/>
          <p:nvPr/>
        </p:nvSpPr>
        <p:spPr>
          <a:xfrm>
            <a:off x="685800" y="2971800"/>
            <a:ext cx="2560320" cy="621792"/>
          </a:xfrm>
          <a:prstGeom prst="rect">
            <a:avLst/>
          </a:prstGeom>
          <a:noFill/>
        </p:spPr>
        <p:txBody>
          <a:bodyPr wrap="square" lIns="0" tIns="0" rIns="0" bIns="0" rtlCol="0" anchor="ctr"/>
          <a:lstStyle/>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Uses only the 259 Cd observations. It cannot see Ni / Zn.</a:t>
            </a:r>
            <a:endParaRPr lang="en-US" sz="1150" dirty="0"/>
          </a:p>
        </p:txBody>
      </p:sp>
      <p:sp>
        <p:nvSpPr>
          <p:cNvPr id="9" name="Shape 7"/>
          <p:cNvSpPr/>
          <p:nvPr/>
        </p:nvSpPr>
        <p:spPr>
          <a:xfrm>
            <a:off x="3977640" y="2103120"/>
            <a:ext cx="3520440" cy="1554480"/>
          </a:xfrm>
          <a:prstGeom prst="roundRect">
            <a:avLst>
              <a:gd name="adj" fmla="val 5882"/>
            </a:avLst>
          </a:prstGeom>
          <a:solidFill>
            <a:srgbClr val="E3E9F5"/>
          </a:solidFill>
          <a:effectLst>
            <a:outerShdw blurRad="76200" dist="25400" dir="5400000" algn="bl" rotWithShape="0">
              <a:srgbClr val="1F2937">
                <a:alpha val="10000"/>
              </a:srgbClr>
            </a:outerShdw>
          </a:effectLst>
        </p:spPr>
        <p:txBody>
          <a:bodyPr/>
          <a:p/>
        </p:txBody>
      </p:sp>
      <p:sp>
        <p:nvSpPr>
          <p:cNvPr id="10" name="Text 8"/>
          <p:cNvSpPr txBox="1"/>
          <p:nvPr/>
        </p:nvSpPr>
        <p:spPr>
          <a:xfrm>
            <a:off x="4206240" y="2240280"/>
            <a:ext cx="3063240" cy="457200"/>
          </a:xfrm>
          <a:prstGeom prst="rect">
            <a:avLst/>
          </a:prstGeom>
          <a:noFill/>
        </p:spPr>
        <p:txBody>
          <a:bodyPr wrap="square" lIns="0" tIns="0" rIns="0" bIns="0" rtlCol="0" anchor="ctr"/>
          <a:lstStyle/>
          <a:p>
            <a:pPr marL="0" indent="0">
              <a:buNone/>
            </a:pPr>
            <a:r>
              <a:rPr lang="en-US" sz="2200" b="1" dirty="0">
                <a:solidFill>
                  <a:srgbClr val="4C72B0"/>
                </a:solidFill>
                <a:latin typeface="Cambria" panose="02040503050406030204" pitchFamily="34" charset="0"/>
                <a:ea typeface="Cambria" panose="02040503050406030204" pitchFamily="34" charset="-122"/>
                <a:cs typeface="Cambria" panose="02040503050406030204" pitchFamily="34" charset="-120"/>
              </a:rPr>
              <a:t>ICM</a:t>
            </a:r>
            <a:endParaRPr lang="en-US" sz="2200" dirty="0"/>
          </a:p>
        </p:txBody>
      </p:sp>
      <p:sp>
        <p:nvSpPr>
          <p:cNvPr id="11" name="Text 9"/>
          <p:cNvSpPr txBox="1"/>
          <p:nvPr/>
        </p:nvSpPr>
        <p:spPr>
          <a:xfrm>
            <a:off x="4206240" y="2670048"/>
            <a:ext cx="3063240" cy="274320"/>
          </a:xfrm>
          <a:prstGeom prst="rect">
            <a:avLst/>
          </a:prstGeom>
          <a:noFill/>
        </p:spPr>
        <p:txBody>
          <a:bodyPr wrap="square" lIns="0" tIns="0" rIns="0" bIns="0" rtlCol="0" anchor="ctr"/>
          <a:lstStyle/>
          <a:p>
            <a:pPr marL="0" indent="0">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MOGP · Q = 1</a:t>
            </a:r>
            <a:endParaRPr lang="en-US" sz="1100" dirty="0"/>
          </a:p>
        </p:txBody>
      </p:sp>
      <p:sp>
        <p:nvSpPr>
          <p:cNvPr id="12" name="Text 10"/>
          <p:cNvSpPr txBox="1"/>
          <p:nvPr/>
        </p:nvSpPr>
        <p:spPr>
          <a:xfrm>
            <a:off x="4206240" y="2971800"/>
            <a:ext cx="3063240" cy="621792"/>
          </a:xfrm>
          <a:prstGeom prst="rect">
            <a:avLst/>
          </a:prstGeom>
          <a:noFill/>
        </p:spPr>
        <p:txBody>
          <a:bodyPr wrap="square" lIns="0" tIns="0" rIns="0" bIns="0" rtlCol="0" anchor="ctr"/>
          <a:lstStyle/>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K = k(x,x')*B[i,j]</a:t>
            </a:r>
            <a:endParaRPr lang="en-US" sz="1150" dirty="0"/>
          </a:p>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One spatial scale, shared by all three outputs</a:t>
            </a:r>
            <a:endParaRPr lang="en-US" sz="1150" dirty="0"/>
          </a:p>
        </p:txBody>
      </p:sp>
      <p:sp>
        <p:nvSpPr>
          <p:cNvPr id="13" name="Shape 11"/>
          <p:cNvSpPr/>
          <p:nvPr/>
        </p:nvSpPr>
        <p:spPr>
          <a:xfrm>
            <a:off x="8001000" y="2103120"/>
            <a:ext cx="3703320" cy="1554480"/>
          </a:xfrm>
          <a:prstGeom prst="roundRect">
            <a:avLst>
              <a:gd name="adj" fmla="val 5882"/>
            </a:avLst>
          </a:prstGeom>
          <a:solidFill>
            <a:srgbClr val="F3E4E0"/>
          </a:solidFill>
          <a:effectLst>
            <a:outerShdw blurRad="76200" dist="25400" dir="5400000" algn="bl" rotWithShape="0">
              <a:srgbClr val="1F2937">
                <a:alpha val="10000"/>
              </a:srgbClr>
            </a:outerShdw>
          </a:effectLst>
        </p:spPr>
        <p:txBody>
          <a:bodyPr/>
          <a:p/>
        </p:txBody>
      </p:sp>
      <p:sp>
        <p:nvSpPr>
          <p:cNvPr id="14" name="Text 12"/>
          <p:cNvSpPr txBox="1"/>
          <p:nvPr/>
        </p:nvSpPr>
        <p:spPr>
          <a:xfrm>
            <a:off x="8229600" y="2240280"/>
            <a:ext cx="3246120" cy="457200"/>
          </a:xfrm>
          <a:prstGeom prst="rect">
            <a:avLst/>
          </a:prstGeom>
          <a:noFill/>
        </p:spPr>
        <p:txBody>
          <a:bodyPr wrap="square" lIns="0" tIns="0" rIns="0" bIns="0" rtlCol="0" anchor="ctr"/>
          <a:lstStyle/>
          <a:p>
            <a:pPr marL="0" indent="0">
              <a:buNone/>
            </a:pPr>
            <a:r>
              <a:rPr lang="en-US" sz="2200" b="1" dirty="0">
                <a:solidFill>
                  <a:srgbClr val="9C4A3A"/>
                </a:solidFill>
                <a:latin typeface="Cambria" panose="02040503050406030204" pitchFamily="34" charset="0"/>
                <a:ea typeface="Cambria" panose="02040503050406030204" pitchFamily="34" charset="-122"/>
                <a:cs typeface="Cambria" panose="02040503050406030204" pitchFamily="34" charset="-120"/>
              </a:rPr>
              <a:t>LMC</a:t>
            </a:r>
            <a:endParaRPr lang="en-US" sz="2200" dirty="0"/>
          </a:p>
        </p:txBody>
      </p:sp>
      <p:sp>
        <p:nvSpPr>
          <p:cNvPr id="15" name="Text 13"/>
          <p:cNvSpPr txBox="1"/>
          <p:nvPr/>
        </p:nvSpPr>
        <p:spPr>
          <a:xfrm>
            <a:off x="8229600" y="2670048"/>
            <a:ext cx="3246120" cy="274320"/>
          </a:xfrm>
          <a:prstGeom prst="rect">
            <a:avLst/>
          </a:prstGeom>
          <a:noFill/>
        </p:spPr>
        <p:txBody>
          <a:bodyPr wrap="square" lIns="0" tIns="0" rIns="0" bIns="0" rtlCol="0" anchor="ctr"/>
          <a:lstStyle/>
          <a:p>
            <a:pPr marL="0" indent="0">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MOGP · Q = 2</a:t>
            </a:r>
            <a:endParaRPr lang="en-US" sz="1100" dirty="0"/>
          </a:p>
        </p:txBody>
      </p:sp>
      <p:sp>
        <p:nvSpPr>
          <p:cNvPr id="16" name="Text 14"/>
          <p:cNvSpPr txBox="1"/>
          <p:nvPr/>
        </p:nvSpPr>
        <p:spPr>
          <a:xfrm>
            <a:off x="8229600" y="2971800"/>
            <a:ext cx="3246120" cy="621792"/>
          </a:xfrm>
          <a:prstGeom prst="rect">
            <a:avLst/>
          </a:prstGeom>
          <a:noFill/>
        </p:spPr>
        <p:txBody>
          <a:bodyPr wrap="square" lIns="0" tIns="0" rIns="0" bIns="0" rtlCol="0" anchor="ctr"/>
          <a:lstStyle/>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K = sum_q k_q(x,x')*B_q[i,j]</a:t>
            </a:r>
            <a:endParaRPr lang="en-US" sz="1150" dirty="0"/>
          </a:p>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Each latent function gets its own spatial scale</a:t>
            </a:r>
            <a:endParaRPr lang="en-US" sz="1150" dirty="0"/>
          </a:p>
        </p:txBody>
      </p:sp>
      <p:sp>
        <p:nvSpPr>
          <p:cNvPr id="17" name="Shape 15"/>
          <p:cNvSpPr/>
          <p:nvPr/>
        </p:nvSpPr>
        <p:spPr>
          <a:xfrm>
            <a:off x="3474720" y="2779776"/>
            <a:ext cx="502920" cy="201168"/>
          </a:xfrm>
          <a:prstGeom prst="rightArrow">
            <a:avLst/>
          </a:prstGeom>
          <a:solidFill>
            <a:srgbClr val="CBD5E1"/>
          </a:solidFill>
        </p:spPr>
        <p:txBody>
          <a:bodyPr/>
          <a:p/>
        </p:txBody>
      </p:sp>
      <p:sp>
        <p:nvSpPr>
          <p:cNvPr id="18" name="Shape 16"/>
          <p:cNvSpPr/>
          <p:nvPr/>
        </p:nvSpPr>
        <p:spPr>
          <a:xfrm>
            <a:off x="7498080" y="2779776"/>
            <a:ext cx="502920" cy="201168"/>
          </a:xfrm>
          <a:prstGeom prst="rightArrow">
            <a:avLst/>
          </a:prstGeom>
          <a:solidFill>
            <a:srgbClr val="CBD5E1"/>
          </a:solidFill>
        </p:spPr>
        <p:txBody>
          <a:bodyPr/>
          <a:p/>
        </p:txBody>
      </p:sp>
      <p:sp>
        <p:nvSpPr>
          <p:cNvPr id="19" name="Shape 17"/>
          <p:cNvSpPr/>
          <p:nvPr/>
        </p:nvSpPr>
        <p:spPr>
          <a:xfrm>
            <a:off x="457200" y="3977640"/>
            <a:ext cx="11247120" cy="777240"/>
          </a:xfrm>
          <a:prstGeom prst="roundRect">
            <a:avLst>
              <a:gd name="adj" fmla="val 9412"/>
            </a:avLst>
          </a:prstGeom>
          <a:solidFill>
            <a:srgbClr val="F3F4F6"/>
          </a:solidFill>
          <a:effectLst>
            <a:outerShdw blurRad="76200" dist="25400" dir="5400000" algn="bl" rotWithShape="0">
              <a:srgbClr val="1F2937">
                <a:alpha val="12000"/>
              </a:srgbClr>
            </a:outerShdw>
          </a:effectLst>
        </p:spPr>
        <p:txBody>
          <a:bodyPr/>
          <a:p/>
        </p:txBody>
      </p:sp>
      <p:sp>
        <p:nvSpPr>
          <p:cNvPr id="20" name="Text 18"/>
          <p:cNvSpPr txBox="1"/>
          <p:nvPr/>
        </p:nvSpPr>
        <p:spPr>
          <a:xfrm>
            <a:off x="713232" y="4160520"/>
            <a:ext cx="10735056" cy="41148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How they relate</a:t>
            </a:r>
            <a:endParaRPr lang="en-US" sz="1050" dirty="0"/>
          </a:p>
          <a:p>
            <a:pPr marL="0" indent="0">
              <a:lnSpc>
                <a:spcPct val="115000"/>
              </a:lnSpc>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ICM is just LMC with Q = 1. B comes from GPyTorch's IndexKernel, written as B = W*W^T + diag(kappa).</a:t>
            </a:r>
            <a:endParaRPr lang="en-US" sz="1050" dirty="0"/>
          </a:p>
        </p:txBody>
      </p:sp>
      <p:sp>
        <p:nvSpPr>
          <p:cNvPr id="21" name="Shape 19"/>
          <p:cNvSpPr/>
          <p:nvPr/>
        </p:nvSpPr>
        <p:spPr>
          <a:xfrm>
            <a:off x="457200" y="4937760"/>
            <a:ext cx="11247120" cy="1188720"/>
          </a:xfrm>
          <a:prstGeom prst="roundRect">
            <a:avLst>
              <a:gd name="adj" fmla="val 6154"/>
            </a:avLst>
          </a:prstGeom>
          <a:solidFill>
            <a:srgbClr val="F3F4F6"/>
          </a:solidFill>
          <a:effectLst>
            <a:outerShdw blurRad="76200" dist="25400" dir="5400000" algn="bl" rotWithShape="0">
              <a:srgbClr val="1F2937">
                <a:alpha val="12000"/>
              </a:srgbClr>
            </a:outerShdw>
          </a:effectLst>
        </p:spPr>
        <p:txBody>
          <a:bodyPr/>
          <a:p/>
        </p:txBody>
      </p:sp>
      <p:sp>
        <p:nvSpPr>
          <p:cNvPr id="22" name="Text 20"/>
          <p:cNvSpPr txBox="1"/>
          <p:nvPr/>
        </p:nvSpPr>
        <p:spPr>
          <a:xfrm>
            <a:off x="713232" y="5120640"/>
            <a:ext cx="10735056" cy="82296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About the implementation</a:t>
            </a:r>
            <a:endParaRPr lang="en-US" sz="1050" dirty="0"/>
          </a:p>
          <a:p>
            <a:pPr marL="0" indent="0">
              <a:lnSpc>
                <a:spcPct val="115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I used the Hadamard long-table form for all three models (each row = coordinates + task index + observation). A wide table cannot hold the missing Cd values, but a long table can. The trade-off is that it gives up the Kronecker speedup. Training runs on 977 rows.</a:t>
            </a:r>
            <a:endParaRPr lang="en-US" sz="1050" dirty="0"/>
          </a:p>
        </p:txBody>
      </p:sp>
      <p:sp>
        <p:nvSpPr>
          <p:cNvPr id="23" name="Text 21"/>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24" name="Text 22"/>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How I checked the result was not just luck</a:t>
            </a:r>
            <a:endParaRPr lang="en-US" sz="2600" dirty="0"/>
          </a:p>
        </p:txBody>
      </p:sp>
      <p:sp>
        <p:nvSpPr>
          <p:cNvPr id="5" name="Shape 3"/>
          <p:cNvSpPr/>
          <p:nvPr/>
        </p:nvSpPr>
        <p:spPr>
          <a:xfrm>
            <a:off x="457200" y="1508760"/>
            <a:ext cx="11247120" cy="960120"/>
          </a:xfrm>
          <a:prstGeom prst="roundRect">
            <a:avLst>
              <a:gd name="adj" fmla="val 7619"/>
            </a:avLst>
          </a:prstGeom>
          <a:solidFill>
            <a:srgbClr val="FFFFFF"/>
          </a:solidFill>
        </p:spPr>
        <p:txBody>
          <a:bodyPr/>
          <a:p/>
        </p:txBody>
      </p:sp>
      <p:sp>
        <p:nvSpPr>
          <p:cNvPr id="6" name="Shape 4"/>
          <p:cNvSpPr/>
          <p:nvPr/>
        </p:nvSpPr>
        <p:spPr>
          <a:xfrm>
            <a:off x="658368" y="1709928"/>
            <a:ext cx="457200" cy="457200"/>
          </a:xfrm>
          <a:prstGeom prst="ellipse">
            <a:avLst/>
          </a:prstGeom>
          <a:solidFill>
            <a:srgbClr val="4C72B0"/>
          </a:solidFill>
        </p:spPr>
        <p:txBody>
          <a:bodyPr/>
          <a:p/>
        </p:txBody>
      </p:sp>
      <p:sp>
        <p:nvSpPr>
          <p:cNvPr id="7" name="Text 5"/>
          <p:cNvSpPr txBox="1"/>
          <p:nvPr/>
        </p:nvSpPr>
        <p:spPr>
          <a:xfrm>
            <a:off x="658368" y="170992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8" name="Text 6"/>
          <p:cNvSpPr txBox="1"/>
          <p:nvPr/>
        </p:nvSpPr>
        <p:spPr>
          <a:xfrm>
            <a:off x="1371600" y="1472184"/>
            <a:ext cx="2651760" cy="914400"/>
          </a:xfrm>
          <a:prstGeom prst="rect">
            <a:avLst/>
          </a:prstGeom>
          <a:noFill/>
        </p:spPr>
        <p:txBody>
          <a:bodyPr wrap="square" lIns="0" tIns="0" rIns="0" bIns="0" rtlCol="0" anchor="ctr"/>
          <a:lstStyle/>
          <a:p>
            <a:pPr marL="0" indent="0">
              <a:buNone/>
            </a:pPr>
            <a:r>
              <a:rPr lang="en-US" sz="1600" b="1" dirty="0">
                <a:solidFill>
                  <a:srgbClr val="1F2937"/>
                </a:solidFill>
                <a:latin typeface="Cambria" panose="02040503050406030204" pitchFamily="34" charset="0"/>
                <a:ea typeface="Cambria" panose="02040503050406030204" pitchFamily="34" charset="-122"/>
                <a:cs typeface="Cambria" panose="02040503050406030204" pitchFamily="34" charset="-120"/>
              </a:rPr>
              <a:t>10 random splits</a:t>
            </a:r>
            <a:endParaRPr lang="en-US" sz="1600" dirty="0"/>
          </a:p>
        </p:txBody>
      </p:sp>
      <p:sp>
        <p:nvSpPr>
          <p:cNvPr id="9" name="Text 7"/>
          <p:cNvSpPr txBox="1"/>
          <p:nvPr/>
        </p:nvSpPr>
        <p:spPr>
          <a:xfrm>
            <a:off x="4160520" y="1472184"/>
            <a:ext cx="7406640" cy="914400"/>
          </a:xfrm>
          <a:prstGeom prst="rect">
            <a:avLst/>
          </a:prstGeom>
          <a:noFill/>
        </p:spPr>
        <p:txBody>
          <a:bodyPr wrap="square" lIns="0" tIns="0" rIns="0" bIns="0" rtlCol="0" anchor="ctr"/>
          <a:lstStyle/>
          <a:p>
            <a:pPr marL="0" indent="0">
              <a:lnSpc>
                <a:spcPct val="120000"/>
              </a:lnSpc>
              <a:buNone/>
            </a:pP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Each split re-draws the 259 / 100 partition with a different random seed, and re-standardises from scratch</a:t>
            </a:r>
            <a:endParaRPr lang="en-US" sz="1350" dirty="0"/>
          </a:p>
        </p:txBody>
      </p:sp>
      <p:sp>
        <p:nvSpPr>
          <p:cNvPr id="10" name="Shape 8"/>
          <p:cNvSpPr/>
          <p:nvPr/>
        </p:nvSpPr>
        <p:spPr>
          <a:xfrm>
            <a:off x="457200" y="2651760"/>
            <a:ext cx="11247120" cy="960120"/>
          </a:xfrm>
          <a:prstGeom prst="roundRect">
            <a:avLst>
              <a:gd name="adj" fmla="val 7619"/>
            </a:avLst>
          </a:prstGeom>
          <a:solidFill>
            <a:srgbClr val="F3F4F6"/>
          </a:solidFill>
        </p:spPr>
        <p:txBody>
          <a:bodyPr/>
          <a:p/>
        </p:txBody>
      </p:sp>
      <p:sp>
        <p:nvSpPr>
          <p:cNvPr id="11" name="Shape 9"/>
          <p:cNvSpPr/>
          <p:nvPr/>
        </p:nvSpPr>
        <p:spPr>
          <a:xfrm>
            <a:off x="658368" y="2852928"/>
            <a:ext cx="457200" cy="457200"/>
          </a:xfrm>
          <a:prstGeom prst="ellipse">
            <a:avLst/>
          </a:prstGeom>
          <a:solidFill>
            <a:srgbClr val="4C72B0"/>
          </a:solidFill>
        </p:spPr>
        <p:txBody>
          <a:bodyPr/>
          <a:p/>
        </p:txBody>
      </p:sp>
      <p:sp>
        <p:nvSpPr>
          <p:cNvPr id="12" name="Text 10"/>
          <p:cNvSpPr txBox="1"/>
          <p:nvPr/>
        </p:nvSpPr>
        <p:spPr>
          <a:xfrm>
            <a:off x="658368" y="285292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3" name="Text 11"/>
          <p:cNvSpPr txBox="1"/>
          <p:nvPr/>
        </p:nvSpPr>
        <p:spPr>
          <a:xfrm>
            <a:off x="1371600" y="2615184"/>
            <a:ext cx="2651760" cy="914400"/>
          </a:xfrm>
          <a:prstGeom prst="rect">
            <a:avLst/>
          </a:prstGeom>
          <a:noFill/>
        </p:spPr>
        <p:txBody>
          <a:bodyPr wrap="square" lIns="0" tIns="0" rIns="0" bIns="0" rtlCol="0" anchor="ctr"/>
          <a:lstStyle/>
          <a:p>
            <a:pPr marL="0" indent="0">
              <a:buNone/>
            </a:pPr>
            <a:r>
              <a:rPr lang="en-US" sz="1600" b="1" dirty="0">
                <a:solidFill>
                  <a:srgbClr val="1F2937"/>
                </a:solidFill>
                <a:latin typeface="Cambria" panose="02040503050406030204" pitchFamily="34" charset="0"/>
                <a:ea typeface="Cambria" panose="02040503050406030204" pitchFamily="34" charset="-122"/>
                <a:cs typeface="Cambria" panose="02040503050406030204" pitchFamily="34" charset="-120"/>
              </a:rPr>
              <a:t>Paired comparison</a:t>
            </a:r>
            <a:endParaRPr lang="en-US" sz="1600" dirty="0"/>
          </a:p>
        </p:txBody>
      </p:sp>
      <p:sp>
        <p:nvSpPr>
          <p:cNvPr id="14" name="Text 12"/>
          <p:cNvSpPr txBox="1"/>
          <p:nvPr/>
        </p:nvSpPr>
        <p:spPr>
          <a:xfrm>
            <a:off x="4160520" y="2615184"/>
            <a:ext cx="7406640" cy="914400"/>
          </a:xfrm>
          <a:prstGeom prst="rect">
            <a:avLst/>
          </a:prstGeom>
          <a:noFill/>
        </p:spPr>
        <p:txBody>
          <a:bodyPr wrap="square" lIns="0" tIns="0" rIns="0" bIns="0" rtlCol="0" anchor="ctr"/>
          <a:lstStyle/>
          <a:p>
            <a:pPr marL="0" indent="0">
              <a:lnSpc>
                <a:spcPct val="120000"/>
              </a:lnSpc>
              <a:buNone/>
            </a:pP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All three models run on the same split, then compared with a paired t-test and a Wilcoxon test</a:t>
            </a:r>
            <a:endParaRPr lang="en-US" sz="1350" dirty="0"/>
          </a:p>
        </p:txBody>
      </p:sp>
      <p:sp>
        <p:nvSpPr>
          <p:cNvPr id="15" name="Shape 13"/>
          <p:cNvSpPr/>
          <p:nvPr/>
        </p:nvSpPr>
        <p:spPr>
          <a:xfrm>
            <a:off x="457200" y="3794760"/>
            <a:ext cx="11247120" cy="960120"/>
          </a:xfrm>
          <a:prstGeom prst="roundRect">
            <a:avLst>
              <a:gd name="adj" fmla="val 7619"/>
            </a:avLst>
          </a:prstGeom>
          <a:solidFill>
            <a:srgbClr val="FFFFFF"/>
          </a:solidFill>
        </p:spPr>
        <p:txBody>
          <a:bodyPr/>
          <a:p/>
        </p:txBody>
      </p:sp>
      <p:sp>
        <p:nvSpPr>
          <p:cNvPr id="16" name="Shape 14"/>
          <p:cNvSpPr/>
          <p:nvPr/>
        </p:nvSpPr>
        <p:spPr>
          <a:xfrm>
            <a:off x="658368" y="3995928"/>
            <a:ext cx="457200" cy="457200"/>
          </a:xfrm>
          <a:prstGeom prst="ellipse">
            <a:avLst/>
          </a:prstGeom>
          <a:solidFill>
            <a:srgbClr val="4C72B0"/>
          </a:solidFill>
        </p:spPr>
        <p:txBody>
          <a:bodyPr/>
          <a:p/>
        </p:txBody>
      </p:sp>
      <p:sp>
        <p:nvSpPr>
          <p:cNvPr id="17" name="Text 15"/>
          <p:cNvSpPr txBox="1"/>
          <p:nvPr/>
        </p:nvSpPr>
        <p:spPr>
          <a:xfrm>
            <a:off x="658368" y="399592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8" name="Text 16"/>
          <p:cNvSpPr txBox="1"/>
          <p:nvPr/>
        </p:nvSpPr>
        <p:spPr>
          <a:xfrm>
            <a:off x="1371600" y="3758184"/>
            <a:ext cx="2651760" cy="914400"/>
          </a:xfrm>
          <a:prstGeom prst="rect">
            <a:avLst/>
          </a:prstGeom>
          <a:noFill/>
        </p:spPr>
        <p:txBody>
          <a:bodyPr wrap="square" lIns="0" tIns="0" rIns="0" bIns="0" rtlCol="0" anchor="ctr"/>
          <a:lstStyle/>
          <a:p>
            <a:pPr marL="0" indent="0">
              <a:buNone/>
            </a:pPr>
            <a:r>
              <a:rPr lang="en-US" sz="1600" b="1" dirty="0">
                <a:solidFill>
                  <a:srgbClr val="1F2937"/>
                </a:solidFill>
                <a:latin typeface="Cambria" panose="02040503050406030204" pitchFamily="34" charset="0"/>
                <a:ea typeface="Cambria" panose="02040503050406030204" pitchFamily="34" charset="-122"/>
                <a:cs typeface="Cambria" panose="02040503050406030204" pitchFamily="34" charset="-120"/>
              </a:rPr>
              <a:t>Metrics</a:t>
            </a:r>
            <a:endParaRPr lang="en-US" sz="1600" dirty="0"/>
          </a:p>
        </p:txBody>
      </p:sp>
      <p:sp>
        <p:nvSpPr>
          <p:cNvPr id="19" name="Text 17"/>
          <p:cNvSpPr txBox="1"/>
          <p:nvPr/>
        </p:nvSpPr>
        <p:spPr>
          <a:xfrm>
            <a:off x="4160520" y="3758184"/>
            <a:ext cx="7406640" cy="914400"/>
          </a:xfrm>
          <a:prstGeom prst="rect">
            <a:avLst/>
          </a:prstGeom>
          <a:noFill/>
        </p:spPr>
        <p:txBody>
          <a:bodyPr wrap="square" lIns="0" tIns="0" rIns="0" bIns="0" rtlCol="0" anchor="ctr"/>
          <a:lstStyle/>
          <a:p>
            <a:pPr marL="0" indent="0">
              <a:lnSpc>
                <a:spcPct val="120000"/>
              </a:lnSpc>
              <a:buNone/>
            </a:pP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Test RMSE / MAE / NLL on the 100 held-out Cd sites</a:t>
            </a:r>
            <a:endParaRPr lang="en-US" sz="1350" dirty="0"/>
          </a:p>
        </p:txBody>
      </p:sp>
      <p:sp>
        <p:nvSpPr>
          <p:cNvPr id="20" name="Shape 18"/>
          <p:cNvSpPr/>
          <p:nvPr/>
        </p:nvSpPr>
        <p:spPr>
          <a:xfrm>
            <a:off x="457200" y="4937760"/>
            <a:ext cx="11247120" cy="960120"/>
          </a:xfrm>
          <a:prstGeom prst="roundRect">
            <a:avLst>
              <a:gd name="adj" fmla="val 7619"/>
            </a:avLst>
          </a:prstGeom>
          <a:solidFill>
            <a:srgbClr val="F3F4F6"/>
          </a:solidFill>
        </p:spPr>
        <p:txBody>
          <a:bodyPr/>
          <a:p/>
        </p:txBody>
      </p:sp>
      <p:sp>
        <p:nvSpPr>
          <p:cNvPr id="21" name="Shape 19"/>
          <p:cNvSpPr/>
          <p:nvPr/>
        </p:nvSpPr>
        <p:spPr>
          <a:xfrm>
            <a:off x="658368" y="5138928"/>
            <a:ext cx="457200" cy="457200"/>
          </a:xfrm>
          <a:prstGeom prst="ellipse">
            <a:avLst/>
          </a:prstGeom>
          <a:solidFill>
            <a:srgbClr val="C0654F"/>
          </a:solidFill>
        </p:spPr>
        <p:txBody>
          <a:bodyPr/>
          <a:p/>
        </p:txBody>
      </p:sp>
      <p:sp>
        <p:nvSpPr>
          <p:cNvPr id="22" name="Text 20"/>
          <p:cNvSpPr txBox="1"/>
          <p:nvPr/>
        </p:nvSpPr>
        <p:spPr>
          <a:xfrm>
            <a:off x="658368" y="5138928"/>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3" name="Text 21"/>
          <p:cNvSpPr txBox="1"/>
          <p:nvPr/>
        </p:nvSpPr>
        <p:spPr>
          <a:xfrm>
            <a:off x="1371600" y="4901184"/>
            <a:ext cx="2651760" cy="914400"/>
          </a:xfrm>
          <a:prstGeom prst="rect">
            <a:avLst/>
          </a:prstGeom>
          <a:noFill/>
        </p:spPr>
        <p:txBody>
          <a:bodyPr wrap="square" lIns="0" tIns="0" rIns="0" bIns="0" rtlCol="0" anchor="ctr"/>
          <a:lstStyle/>
          <a:p>
            <a:pPr marL="0" indent="0">
              <a:buNone/>
            </a:pPr>
            <a:r>
              <a:rPr lang="en-US" sz="1600" b="1" dirty="0">
                <a:solidFill>
                  <a:srgbClr val="1F2937"/>
                </a:solidFill>
                <a:latin typeface="Cambria" panose="02040503050406030204" pitchFamily="34" charset="0"/>
                <a:ea typeface="Cambria" panose="02040503050406030204" pitchFamily="34" charset="-122"/>
                <a:cs typeface="Cambria" panose="02040503050406030204" pitchFamily="34" charset="-120"/>
              </a:rPr>
              <a:t>One setting I had to change</a:t>
            </a:r>
            <a:endParaRPr lang="en-US" sz="1600" dirty="0"/>
          </a:p>
        </p:txBody>
      </p:sp>
      <p:sp>
        <p:nvSpPr>
          <p:cNvPr id="24" name="Text 22"/>
          <p:cNvSpPr txBox="1"/>
          <p:nvPr/>
        </p:nvSpPr>
        <p:spPr>
          <a:xfrm>
            <a:off x="4160520" y="4901184"/>
            <a:ext cx="7406640" cy="914400"/>
          </a:xfrm>
          <a:prstGeom prst="rect">
            <a:avLst/>
          </a:prstGeom>
          <a:noFill/>
        </p:spPr>
        <p:txBody>
          <a:bodyPr wrap="square" lIns="0" tIns="0" rIns="0" bIns="0" rtlCol="0" anchor="ctr"/>
          <a:lstStyle/>
          <a:p>
            <a:pPr marL="0" indent="0">
              <a:lnSpc>
                <a:spcPct val="120000"/>
              </a:lnSpc>
              <a:buNone/>
            </a:pP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GPyTorch only uses exact Cholesky below 800 training points, and I have 977, so I raised that limit manually</a:t>
            </a:r>
            <a:endParaRPr lang="en-US" sz="1350" dirty="0"/>
          </a:p>
        </p:txBody>
      </p:sp>
      <p:sp>
        <p:nvSpPr>
          <p:cNvPr id="25" name="Text 23"/>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26" name="Text 24"/>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Main result: both multi-output models beat the baseline</a:t>
            </a:r>
            <a:endParaRPr lang="en-US" sz="2600" dirty="0"/>
          </a:p>
        </p:txBody>
      </p:sp>
      <p:sp>
        <p:nvSpPr>
          <p:cNvPr id="5" name="Shape 3"/>
          <p:cNvSpPr/>
          <p:nvPr/>
        </p:nvSpPr>
        <p:spPr>
          <a:xfrm>
            <a:off x="457200" y="1417320"/>
            <a:ext cx="3566160" cy="1371600"/>
          </a:xfrm>
          <a:prstGeom prst="roundRect">
            <a:avLst>
              <a:gd name="adj" fmla="val 5333"/>
            </a:avLst>
          </a:prstGeom>
          <a:solidFill>
            <a:srgbClr val="F3F4F6"/>
          </a:solidFill>
          <a:effectLst>
            <a:outerShdw blurRad="76200" dist="25400" dir="5400000" algn="bl" rotWithShape="0">
              <a:srgbClr val="1F2937">
                <a:alpha val="10000"/>
              </a:srgbClr>
            </a:outerShdw>
          </a:effectLst>
        </p:spPr>
        <p:txBody>
          <a:bodyPr/>
          <a:p/>
        </p:txBody>
      </p:sp>
      <p:sp>
        <p:nvSpPr>
          <p:cNvPr id="6" name="Text 4"/>
          <p:cNvSpPr txBox="1"/>
          <p:nvPr/>
        </p:nvSpPr>
        <p:spPr>
          <a:xfrm>
            <a:off x="640080" y="1545336"/>
            <a:ext cx="3200400" cy="630936"/>
          </a:xfrm>
          <a:prstGeom prst="rect">
            <a:avLst/>
          </a:prstGeom>
          <a:noFill/>
        </p:spPr>
        <p:txBody>
          <a:bodyPr wrap="square" lIns="0" tIns="0" rIns="0" bIns="0" rtlCol="0" anchor="b"/>
          <a:lstStyle/>
          <a:p>
            <a:pPr marL="0" indent="0" algn="l">
              <a:buNone/>
            </a:pPr>
            <a:r>
              <a:rPr lang="en-US" sz="3000" b="1" dirty="0">
                <a:solidFill>
                  <a:srgbClr val="4C72B0"/>
                </a:solidFill>
                <a:latin typeface="Cambria" panose="02040503050406030204" pitchFamily="34" charset="0"/>
                <a:ea typeface="Cambria" panose="02040503050406030204" pitchFamily="34" charset="-122"/>
                <a:cs typeface="Cambria" panose="02040503050406030204" pitchFamily="34" charset="-120"/>
              </a:rPr>
              <a:t>+26.3%</a:t>
            </a:r>
            <a:endParaRPr lang="en-US" sz="3000" dirty="0"/>
          </a:p>
        </p:txBody>
      </p:sp>
      <p:sp>
        <p:nvSpPr>
          <p:cNvPr id="7" name="Text 5"/>
          <p:cNvSpPr txBox="1"/>
          <p:nvPr/>
        </p:nvSpPr>
        <p:spPr>
          <a:xfrm>
            <a:off x="640080" y="2322576"/>
            <a:ext cx="3200400" cy="438912"/>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ICM, RMSE reduction vs. independent GP</a:t>
            </a:r>
            <a:endParaRPr lang="en-US" sz="1100" dirty="0"/>
          </a:p>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(+/- 5.4%, over 10 splits)</a:t>
            </a:r>
            <a:endParaRPr lang="en-US" sz="1100" dirty="0"/>
          </a:p>
        </p:txBody>
      </p:sp>
      <p:sp>
        <p:nvSpPr>
          <p:cNvPr id="8" name="Shape 6"/>
          <p:cNvSpPr/>
          <p:nvPr/>
        </p:nvSpPr>
        <p:spPr>
          <a:xfrm>
            <a:off x="4160520" y="1417320"/>
            <a:ext cx="3566160" cy="1371600"/>
          </a:xfrm>
          <a:prstGeom prst="roundRect">
            <a:avLst>
              <a:gd name="adj" fmla="val 5333"/>
            </a:avLst>
          </a:prstGeom>
          <a:solidFill>
            <a:srgbClr val="F3F4F6"/>
          </a:solidFill>
          <a:effectLst>
            <a:outerShdw blurRad="76200" dist="25400" dir="5400000" algn="bl" rotWithShape="0">
              <a:srgbClr val="1F2937">
                <a:alpha val="10000"/>
              </a:srgbClr>
            </a:outerShdw>
          </a:effectLst>
        </p:spPr>
        <p:txBody>
          <a:bodyPr/>
          <a:p/>
        </p:txBody>
      </p:sp>
      <p:sp>
        <p:nvSpPr>
          <p:cNvPr id="9" name="Text 7"/>
          <p:cNvSpPr txBox="1"/>
          <p:nvPr/>
        </p:nvSpPr>
        <p:spPr>
          <a:xfrm>
            <a:off x="4343400" y="1545336"/>
            <a:ext cx="3200400" cy="630936"/>
          </a:xfrm>
          <a:prstGeom prst="rect">
            <a:avLst/>
          </a:prstGeom>
          <a:noFill/>
        </p:spPr>
        <p:txBody>
          <a:bodyPr wrap="square" lIns="0" tIns="0" rIns="0" bIns="0" rtlCol="0" anchor="b"/>
          <a:lstStyle/>
          <a:p>
            <a:pPr marL="0" indent="0" algn="l">
              <a:buNone/>
            </a:pPr>
            <a:r>
              <a:rPr lang="en-US" sz="3000" b="1" dirty="0">
                <a:solidFill>
                  <a:srgbClr val="C0654F"/>
                </a:solidFill>
                <a:latin typeface="Cambria" panose="02040503050406030204" pitchFamily="34" charset="0"/>
                <a:ea typeface="Cambria" panose="02040503050406030204" pitchFamily="34" charset="-122"/>
                <a:cs typeface="Cambria" panose="02040503050406030204" pitchFamily="34" charset="-120"/>
              </a:rPr>
              <a:t>+27.3%</a:t>
            </a:r>
            <a:endParaRPr lang="en-US" sz="3000" dirty="0"/>
          </a:p>
        </p:txBody>
      </p:sp>
      <p:sp>
        <p:nvSpPr>
          <p:cNvPr id="10" name="Text 8"/>
          <p:cNvSpPr txBox="1"/>
          <p:nvPr/>
        </p:nvSpPr>
        <p:spPr>
          <a:xfrm>
            <a:off x="4343400" y="2322576"/>
            <a:ext cx="3200400" cy="438912"/>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LMC (Q=2), RMSE reduction vs. independent GP</a:t>
            </a:r>
            <a:endParaRPr lang="en-US" sz="1100" dirty="0"/>
          </a:p>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(+/- 4.5%, over 10 splits)</a:t>
            </a:r>
            <a:endParaRPr lang="en-US" sz="1100" dirty="0"/>
          </a:p>
        </p:txBody>
      </p:sp>
      <p:sp>
        <p:nvSpPr>
          <p:cNvPr id="11" name="Shape 9"/>
          <p:cNvSpPr/>
          <p:nvPr/>
        </p:nvSpPr>
        <p:spPr>
          <a:xfrm>
            <a:off x="7863840" y="1417320"/>
            <a:ext cx="3840480" cy="1371600"/>
          </a:xfrm>
          <a:prstGeom prst="roundRect">
            <a:avLst>
              <a:gd name="adj" fmla="val 5333"/>
            </a:avLst>
          </a:prstGeom>
          <a:solidFill>
            <a:srgbClr val="F3F4F6"/>
          </a:solidFill>
          <a:effectLst>
            <a:outerShdw blurRad="76200" dist="25400" dir="5400000" algn="bl" rotWithShape="0">
              <a:srgbClr val="1F2937">
                <a:alpha val="10000"/>
              </a:srgbClr>
            </a:outerShdw>
          </a:effectLst>
        </p:spPr>
        <p:txBody>
          <a:bodyPr/>
          <a:p/>
        </p:txBody>
      </p:sp>
      <p:sp>
        <p:nvSpPr>
          <p:cNvPr id="12" name="Text 10"/>
          <p:cNvSpPr txBox="1"/>
          <p:nvPr/>
        </p:nvSpPr>
        <p:spPr>
          <a:xfrm>
            <a:off x="8046720" y="1545336"/>
            <a:ext cx="3474720" cy="630936"/>
          </a:xfrm>
          <a:prstGeom prst="rect">
            <a:avLst/>
          </a:prstGeom>
          <a:noFill/>
        </p:spPr>
        <p:txBody>
          <a:bodyPr wrap="square" lIns="0" tIns="0" rIns="0" bIns="0" rtlCol="0" anchor="b"/>
          <a:lstStyle/>
          <a:p>
            <a:pPr marL="0" indent="0" algn="l">
              <a:buNone/>
            </a:pPr>
            <a:r>
              <a:rPr lang="en-US" sz="2400" b="1" dirty="0">
                <a:solidFill>
                  <a:srgbClr val="1F2937"/>
                </a:solidFill>
                <a:latin typeface="Cambria" panose="02040503050406030204" pitchFamily="34" charset="0"/>
                <a:ea typeface="Cambria" panose="02040503050406030204" pitchFamily="34" charset="-122"/>
                <a:cs typeface="Cambria" panose="02040503050406030204" pitchFamily="34" charset="-120"/>
              </a:rPr>
              <a:t>p &lt; 0.001</a:t>
            </a:r>
            <a:endParaRPr lang="en-US" sz="2400" dirty="0"/>
          </a:p>
        </p:txBody>
      </p:sp>
      <p:sp>
        <p:nvSpPr>
          <p:cNvPr id="13" name="Text 11"/>
          <p:cNvSpPr txBox="1"/>
          <p:nvPr/>
        </p:nvSpPr>
        <p:spPr>
          <a:xfrm>
            <a:off x="8046720" y="2322576"/>
            <a:ext cx="3474720" cy="438912"/>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Paired t-test, independent GP vs. LMC</a:t>
            </a:r>
            <a:endParaRPr lang="en-US" sz="1100" dirty="0"/>
          </a:p>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Better on all 10 splits</a:t>
            </a:r>
            <a:endParaRPr lang="en-US" sz="1100" dirty="0"/>
          </a:p>
        </p:txBody>
      </p:sp>
      <p:graphicFrame>
        <p:nvGraphicFramePr>
          <p:cNvPr id="14" name="Table 0"/>
          <p:cNvGraphicFramePr>
            <a:graphicFrameLocks noGrp="1"/>
          </p:cNvGraphicFramePr>
          <p:nvPr/>
        </p:nvGraphicFramePr>
        <p:xfrm>
          <a:off x="457200" y="3017520"/>
          <a:ext cx="6903720" cy="1600200"/>
        </p:xfrm>
        <a:graphic>
          <a:graphicData uri="http://schemas.openxmlformats.org/drawingml/2006/table">
            <a:tbl>
              <a:tblPr/>
              <a:tblGrid>
                <a:gridCol w="2880360"/>
                <a:gridCol w="2194560"/>
                <a:gridCol w="1828800"/>
              </a:tblGrid>
              <a:tr h="41148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Test RMSE (standardized)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vs. independent GP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r>
              <a:tr h="393192">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Independent GP (baseline)</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0.8694 ± 0.0620</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r h="393192">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ICM</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0.6399 ± 0.0619</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350" dirty="0">
                          <a:solidFill>
                            <a:srgbClr val="1F2937"/>
                          </a:solidFill>
                          <a:latin typeface="Calibri" panose="020F0502020204030204" pitchFamily="34" charset="0"/>
                          <a:ea typeface="Calibri" panose="020F0502020204030204" pitchFamily="34" charset="-122"/>
                          <a:cs typeface="Calibri" panose="020F0502020204030204" pitchFamily="34" charset="-120"/>
                        </a:rPr>
                        <a:t>+26.3% ± 5.4%</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93192">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LMC (Q = 2)</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E4E0"/>
                    </a:solidFill>
                  </a:tcPr>
                </a:tc>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0.6320 ± 0.0544</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E4E0"/>
                    </a:solidFill>
                  </a:tcPr>
                </a:tc>
                <a:tc>
                  <a:txBody>
                    <a:bodyPr/>
                    <a:lstStyle/>
                    <a:p>
                      <a:pPr marL="0" indent="0">
                        <a:buNone/>
                      </a:pPr>
                      <a:r>
                        <a:rPr lang="en-US" sz="1350" b="1" dirty="0">
                          <a:solidFill>
                            <a:srgbClr val="1F2937"/>
                          </a:solidFill>
                          <a:latin typeface="Calibri" panose="020F0502020204030204" pitchFamily="34" charset="0"/>
                          <a:ea typeface="Calibri" panose="020F0502020204030204" pitchFamily="34" charset="-122"/>
                          <a:cs typeface="Calibri" panose="020F0502020204030204" pitchFamily="34" charset="-120"/>
                        </a:rPr>
                        <a:t>+27.3% ± 4.5%</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E4E0"/>
                    </a:solidFill>
                  </a:tcPr>
                </a:tc>
              </a:tr>
            </a:tbl>
          </a:graphicData>
        </a:graphic>
      </p:graphicFrame>
      <p:pic>
        <p:nvPicPr>
          <p:cNvPr id="15" name="Image 0" descr="/tmp/crops/robustness_boxplot.png"/>
          <p:cNvPicPr>
            <a:picLocks noChangeAspect="1"/>
          </p:cNvPicPr>
          <p:nvPr/>
        </p:nvPicPr>
        <p:blipFill>
          <a:blip r:embed="rId1"/>
          <a:stretch>
            <a:fillRect/>
          </a:stretch>
        </p:blipFill>
        <p:spPr>
          <a:xfrm>
            <a:off x="8689086" y="3017520"/>
            <a:ext cx="1961388" cy="1783080"/>
          </a:xfrm>
          <a:prstGeom prst="rect">
            <a:avLst/>
          </a:prstGeom>
        </p:spPr>
      </p:pic>
      <p:sp>
        <p:nvSpPr>
          <p:cNvPr id="16" name="Shape 12"/>
          <p:cNvSpPr/>
          <p:nvPr/>
        </p:nvSpPr>
        <p:spPr>
          <a:xfrm>
            <a:off x="457200" y="4892040"/>
            <a:ext cx="11247120" cy="1234440"/>
          </a:xfrm>
          <a:prstGeom prst="roundRect">
            <a:avLst>
              <a:gd name="adj" fmla="val 5926"/>
            </a:avLst>
          </a:prstGeom>
          <a:solidFill>
            <a:srgbClr val="F3F4F6"/>
          </a:solidFill>
          <a:effectLst>
            <a:outerShdw blurRad="76200" dist="25400" dir="5400000" algn="bl" rotWithShape="0">
              <a:srgbClr val="1F2937">
                <a:alpha val="12000"/>
              </a:srgbClr>
            </a:outerShdw>
          </a:effectLst>
        </p:spPr>
        <p:txBody>
          <a:bodyPr/>
          <a:p/>
        </p:txBody>
      </p:sp>
      <p:sp>
        <p:nvSpPr>
          <p:cNvPr id="17" name="Text 13"/>
          <p:cNvSpPr txBox="1"/>
          <p:nvPr/>
        </p:nvSpPr>
        <p:spPr>
          <a:xfrm>
            <a:off x="713232" y="5074920"/>
            <a:ext cx="10735056" cy="86868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One question I expected: why not just use linear regression?</a:t>
            </a:r>
            <a:endParaRPr lang="en-US" sz="1050" dirty="0"/>
          </a:p>
          <a:p>
            <a:pPr marL="0" indent="0">
              <a:lnSpc>
                <a:spcPct val="115000"/>
              </a:lnSpc>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I tried it. A plain regression Cd ~ Ni + Zn at the same location gives RMSE 0.76, and LMC gives 0.73. So most of the improvement really does come from simply having Ni / Zn at the same site, and the GP only adds about 4% more. I still think the GP is worth using, for two reasons: linear regression gives no uncertainty estimate, and it cannot predict at all where Ni / Zn are missing, whereas the GP falls back to spatial interpolation.</a:t>
            </a:r>
            <a:endParaRPr lang="en-US" sz="1050" dirty="0"/>
          </a:p>
        </p:txBody>
      </p:sp>
      <p:sp>
        <p:nvSpPr>
          <p:cNvPr id="19" name="Text 14"/>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20" name="Text 15"/>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What the predictions actually look like</a:t>
            </a:r>
            <a:endParaRPr lang="en-US" sz="2600" dirty="0"/>
          </a:p>
        </p:txBody>
      </p:sp>
      <p:sp>
        <p:nvSpPr>
          <p:cNvPr id="6" name="Shape 3"/>
          <p:cNvSpPr/>
          <p:nvPr/>
        </p:nvSpPr>
        <p:spPr>
          <a:xfrm>
            <a:off x="457200" y="5440680"/>
            <a:ext cx="11247120" cy="1051560"/>
          </a:xfrm>
          <a:prstGeom prst="roundRect">
            <a:avLst>
              <a:gd name="adj" fmla="val 6957"/>
            </a:avLst>
          </a:prstGeom>
          <a:solidFill>
            <a:srgbClr val="F3F4F6"/>
          </a:solidFill>
          <a:effectLst>
            <a:outerShdw blurRad="76200" dist="25400" dir="5400000" algn="bl" rotWithShape="0">
              <a:srgbClr val="1F2937">
                <a:alpha val="12000"/>
              </a:srgbClr>
            </a:outerShdw>
          </a:effectLst>
        </p:spPr>
        <p:txBody>
          <a:bodyPr/>
          <a:p/>
        </p:txBody>
      </p:sp>
      <p:sp>
        <p:nvSpPr>
          <p:cNvPr id="7" name="Text 4"/>
          <p:cNvSpPr txBox="1"/>
          <p:nvPr/>
        </p:nvSpPr>
        <p:spPr>
          <a:xfrm>
            <a:off x="713232" y="5623560"/>
            <a:ext cx="10735056" cy="68580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How to read this</a:t>
            </a:r>
            <a:endParaRPr lang="en-US" sz="1050" dirty="0"/>
          </a:p>
          <a:p>
            <a:pPr marL="0" indent="0">
              <a:lnSpc>
                <a:spcPct val="115000"/>
              </a:lnSpc>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Each dot is a test site: x-axis is the true Cd value, y-axis is the prediction. A dot on the dashed diagonal is a perfect prediction. From independent GP to ICM to LMC the dots pull in toward the diagonal - the same improvement the RMSE numbers describe.</a:t>
            </a:r>
            <a:endParaRPr lang="en-US" sz="1050" dirty="0"/>
          </a:p>
        </p:txBody>
      </p:sp>
      <p:sp>
        <p:nvSpPr>
          <p:cNvPr id="8" name="Text 5"/>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9" name="Text 6"/>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8 / 17</a:t>
            </a:r>
            <a:endParaRPr lang="en-US" sz="900" dirty="0"/>
          </a:p>
        </p:txBody>
      </p:sp>
      <p:pic>
        <p:nvPicPr>
          <p:cNvPr id="10" name="Picture 9" descr="pred_vs_true_3panel.png"/>
          <p:cNvPicPr>
            <a:picLocks noChangeAspect="1"/>
          </p:cNvPicPr>
          <p:nvPr/>
        </p:nvPicPr>
        <p:blipFill>
          <a:blip r:embed="rId1"/>
          <a:stretch>
            <a:fillRect/>
          </a:stretch>
        </p:blipFill>
        <p:spPr>
          <a:xfrm>
            <a:off x="2875948" y="2131624"/>
            <a:ext cx="6439799" cy="24575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09</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The same result on all 10 splits</a:t>
            </a:r>
            <a:endParaRPr lang="en-US" sz="2600" dirty="0"/>
          </a:p>
        </p:txBody>
      </p:sp>
      <p:pic>
        <p:nvPicPr>
          <p:cNvPr id="5" name="Image 0" descr="/tmp/crops/robustness_paired.png"/>
          <p:cNvPicPr>
            <a:picLocks noChangeAspect="1"/>
          </p:cNvPicPr>
          <p:nvPr/>
        </p:nvPicPr>
        <p:blipFill>
          <a:blip r:embed="rId1"/>
          <a:stretch>
            <a:fillRect/>
          </a:stretch>
        </p:blipFill>
        <p:spPr>
          <a:xfrm>
            <a:off x="457200" y="1417320"/>
            <a:ext cx="5413339" cy="4846320"/>
          </a:xfrm>
          <a:prstGeom prst="rect">
            <a:avLst/>
          </a:prstGeom>
        </p:spPr>
      </p:pic>
      <p:sp>
        <p:nvSpPr>
          <p:cNvPr id="6" name="Shape 3"/>
          <p:cNvSpPr/>
          <p:nvPr/>
        </p:nvSpPr>
        <p:spPr>
          <a:xfrm>
            <a:off x="8549640" y="1600200"/>
            <a:ext cx="3154680" cy="1371600"/>
          </a:xfrm>
          <a:prstGeom prst="roundRect">
            <a:avLst>
              <a:gd name="adj" fmla="val 5333"/>
            </a:avLst>
          </a:prstGeom>
          <a:solidFill>
            <a:srgbClr val="F3F4F6"/>
          </a:solidFill>
          <a:effectLst>
            <a:outerShdw blurRad="76200" dist="25400" dir="5400000" algn="bl" rotWithShape="0">
              <a:srgbClr val="1F2937">
                <a:alpha val="10000"/>
              </a:srgbClr>
            </a:outerShdw>
          </a:effectLst>
        </p:spPr>
        <p:txBody>
          <a:bodyPr/>
          <a:p/>
        </p:txBody>
      </p:sp>
      <p:sp>
        <p:nvSpPr>
          <p:cNvPr id="7" name="Text 4"/>
          <p:cNvSpPr txBox="1"/>
          <p:nvPr/>
        </p:nvSpPr>
        <p:spPr>
          <a:xfrm>
            <a:off x="8732520" y="1728216"/>
            <a:ext cx="2788920" cy="630936"/>
          </a:xfrm>
          <a:prstGeom prst="rect">
            <a:avLst/>
          </a:prstGeom>
          <a:noFill/>
        </p:spPr>
        <p:txBody>
          <a:bodyPr wrap="square" lIns="0" tIns="0" rIns="0" bIns="0" rtlCol="0" anchor="b"/>
          <a:lstStyle/>
          <a:p>
            <a:pPr marL="0" indent="0" algn="l">
              <a:buNone/>
            </a:pPr>
            <a:r>
              <a:rPr lang="en-US" sz="2200" b="1" dirty="0">
                <a:solidFill>
                  <a:srgbClr val="4C72B0"/>
                </a:solidFill>
                <a:latin typeface="Cambria" panose="02040503050406030204" pitchFamily="34" charset="0"/>
                <a:ea typeface="Cambria" panose="02040503050406030204" pitchFamily="34" charset="-122"/>
                <a:cs typeface="Cambria" panose="02040503050406030204" pitchFamily="34" charset="-120"/>
              </a:rPr>
              <a:t>p &lt; 0.001</a:t>
            </a:r>
            <a:endParaRPr lang="en-US" sz="2200" dirty="0"/>
          </a:p>
        </p:txBody>
      </p:sp>
      <p:sp>
        <p:nvSpPr>
          <p:cNvPr id="8" name="Text 5"/>
          <p:cNvSpPr txBox="1"/>
          <p:nvPr/>
        </p:nvSpPr>
        <p:spPr>
          <a:xfrm>
            <a:off x="8732520" y="2505456"/>
            <a:ext cx="2788920" cy="438912"/>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Independent GP -&gt; ICM</a:t>
            </a:r>
            <a:endParaRPr lang="en-US" sz="1100" dirty="0"/>
          </a:p>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Better on 10 / 10 splits</a:t>
            </a:r>
            <a:endParaRPr lang="en-US" sz="1100" dirty="0"/>
          </a:p>
        </p:txBody>
      </p:sp>
      <p:sp>
        <p:nvSpPr>
          <p:cNvPr id="9" name="Shape 6"/>
          <p:cNvSpPr/>
          <p:nvPr/>
        </p:nvSpPr>
        <p:spPr>
          <a:xfrm>
            <a:off x="8549640" y="3154680"/>
            <a:ext cx="3154680" cy="1371600"/>
          </a:xfrm>
          <a:prstGeom prst="roundRect">
            <a:avLst>
              <a:gd name="adj" fmla="val 5333"/>
            </a:avLst>
          </a:prstGeom>
          <a:solidFill>
            <a:srgbClr val="F3F4F6"/>
          </a:solidFill>
          <a:effectLst>
            <a:outerShdw blurRad="76200" dist="25400" dir="5400000" algn="bl" rotWithShape="0">
              <a:srgbClr val="1F2937">
                <a:alpha val="10000"/>
              </a:srgbClr>
            </a:outerShdw>
          </a:effectLst>
        </p:spPr>
        <p:txBody>
          <a:bodyPr/>
          <a:p/>
        </p:txBody>
      </p:sp>
      <p:sp>
        <p:nvSpPr>
          <p:cNvPr id="10" name="Text 7"/>
          <p:cNvSpPr txBox="1"/>
          <p:nvPr/>
        </p:nvSpPr>
        <p:spPr>
          <a:xfrm>
            <a:off x="8732520" y="3282696"/>
            <a:ext cx="2788920" cy="630936"/>
          </a:xfrm>
          <a:prstGeom prst="rect">
            <a:avLst/>
          </a:prstGeom>
          <a:noFill/>
        </p:spPr>
        <p:txBody>
          <a:bodyPr wrap="square" lIns="0" tIns="0" rIns="0" bIns="0" rtlCol="0" anchor="b"/>
          <a:lstStyle/>
          <a:p>
            <a:pPr marL="0" indent="0" algn="l">
              <a:buNone/>
            </a:pPr>
            <a:r>
              <a:rPr lang="en-US" sz="2200" b="1" dirty="0">
                <a:solidFill>
                  <a:srgbClr val="C0654F"/>
                </a:solidFill>
                <a:latin typeface="Cambria" panose="02040503050406030204" pitchFamily="34" charset="0"/>
                <a:ea typeface="Cambria" panose="02040503050406030204" pitchFamily="34" charset="-122"/>
                <a:cs typeface="Cambria" panose="02040503050406030204" pitchFamily="34" charset="-120"/>
              </a:rPr>
              <a:t>p &lt; 0.001</a:t>
            </a:r>
            <a:endParaRPr lang="en-US" sz="2200" dirty="0"/>
          </a:p>
        </p:txBody>
      </p:sp>
      <p:sp>
        <p:nvSpPr>
          <p:cNvPr id="11" name="Text 8"/>
          <p:cNvSpPr txBox="1"/>
          <p:nvPr/>
        </p:nvSpPr>
        <p:spPr>
          <a:xfrm>
            <a:off x="8732520" y="4059936"/>
            <a:ext cx="2788920" cy="438912"/>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Independent GP -&gt; LMC</a:t>
            </a:r>
            <a:endParaRPr lang="en-US" sz="1100" dirty="0"/>
          </a:p>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Better on 10 / 10 splits</a:t>
            </a:r>
            <a:endParaRPr lang="en-US" sz="1100" dirty="0"/>
          </a:p>
        </p:txBody>
      </p:sp>
      <p:sp>
        <p:nvSpPr>
          <p:cNvPr id="12" name="Shape 9"/>
          <p:cNvSpPr/>
          <p:nvPr/>
        </p:nvSpPr>
        <p:spPr>
          <a:xfrm>
            <a:off x="8549640" y="4846320"/>
            <a:ext cx="3154680" cy="1417320"/>
          </a:xfrm>
          <a:prstGeom prst="roundRect">
            <a:avLst>
              <a:gd name="adj" fmla="val 5161"/>
            </a:avLst>
          </a:prstGeom>
          <a:solidFill>
            <a:srgbClr val="F3F4F6"/>
          </a:solidFill>
          <a:effectLst>
            <a:outerShdw blurRad="76200" dist="25400" dir="5400000" algn="bl" rotWithShape="0">
              <a:srgbClr val="1F2937">
                <a:alpha val="12000"/>
              </a:srgbClr>
            </a:outerShdw>
          </a:effectLst>
        </p:spPr>
        <p:txBody>
          <a:bodyPr/>
          <a:p/>
        </p:txBody>
      </p:sp>
      <p:sp>
        <p:nvSpPr>
          <p:cNvPr id="13" name="Text 10"/>
          <p:cNvSpPr txBox="1"/>
          <p:nvPr/>
        </p:nvSpPr>
        <p:spPr>
          <a:xfrm>
            <a:off x="8805672" y="5029200"/>
            <a:ext cx="2642616" cy="105156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How to read this</a:t>
            </a:r>
            <a:endParaRPr lang="en-US" sz="1050" dirty="0"/>
          </a:p>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Each grey line is one random split. The green arrow (GP vs ICM) wins 10/10. The red arrow (ICM vs LMC) is only 5/10, not significant - I come back to that on slide 14.</a:t>
            </a:r>
            <a:endParaRPr lang="en-US" sz="1050" dirty="0"/>
          </a:p>
        </p:txBody>
      </p:sp>
      <p:sp>
        <p:nvSpPr>
          <p:cNvPr id="14" name="Text 11"/>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5" name="Text 12"/>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Where does the improvement come from?</a:t>
            </a:r>
            <a:endParaRPr lang="en-US" sz="2600" dirty="0"/>
          </a:p>
        </p:txBody>
      </p:sp>
      <p:pic>
        <p:nvPicPr>
          <p:cNvPr id="5" name="Image 0" descr="/mnt/user-data/uploads/Research/figures/transect_prediction.png"/>
          <p:cNvPicPr>
            <a:picLocks noChangeAspect="1"/>
          </p:cNvPicPr>
          <p:nvPr/>
        </p:nvPicPr>
        <p:blipFill>
          <a:blip r:embed="rId1"/>
          <a:stretch>
            <a:fillRect/>
          </a:stretch>
        </p:blipFill>
        <p:spPr>
          <a:xfrm>
            <a:off x="1835612" y="1371600"/>
            <a:ext cx="8520471" cy="3931920"/>
          </a:xfrm>
          <a:prstGeom prst="rect">
            <a:avLst/>
          </a:prstGeom>
        </p:spPr>
      </p:pic>
      <p:sp>
        <p:nvSpPr>
          <p:cNvPr id="6" name="Shape 3"/>
          <p:cNvSpPr/>
          <p:nvPr/>
        </p:nvSpPr>
        <p:spPr>
          <a:xfrm>
            <a:off x="457200" y="5440680"/>
            <a:ext cx="11247120" cy="1051560"/>
          </a:xfrm>
          <a:prstGeom prst="roundRect">
            <a:avLst>
              <a:gd name="adj" fmla="val 6957"/>
            </a:avLst>
          </a:prstGeom>
          <a:solidFill>
            <a:srgbClr val="F3E4E0"/>
          </a:solidFill>
          <a:effectLst>
            <a:outerShdw blurRad="76200" dist="25400" dir="5400000" algn="bl" rotWithShape="0">
              <a:srgbClr val="1F2937">
                <a:alpha val="12000"/>
              </a:srgbClr>
            </a:outerShdw>
          </a:effectLst>
        </p:spPr>
        <p:txBody>
          <a:bodyPr/>
          <a:p/>
        </p:txBody>
      </p:sp>
      <p:sp>
        <p:nvSpPr>
          <p:cNvPr id="7" name="Text 4"/>
          <p:cNvSpPr txBox="1"/>
          <p:nvPr/>
        </p:nvSpPr>
        <p:spPr>
          <a:xfrm>
            <a:off x="713232" y="5623560"/>
            <a:ext cx="10735056" cy="68580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9C4A3A"/>
                </a:solidFill>
                <a:latin typeface="Calibri" panose="020F0502020204030204" pitchFamily="34" charset="0"/>
                <a:ea typeface="Calibri" panose="020F0502020204030204" pitchFamily="34" charset="-122"/>
                <a:cs typeface="Calibri" panose="020F0502020204030204" pitchFamily="34" charset="-120"/>
              </a:rPr>
              <a:t>The numbers</a:t>
            </a:r>
            <a:endParaRPr lang="en-US" sz="1050" dirty="0"/>
          </a:p>
          <a:p>
            <a:pPr marL="0" indent="0">
              <a:lnSpc>
                <a:spcPct val="115000"/>
              </a:lnSpc>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Across the 100 test sites the uncertainty becomes about 23% narrower (GP 0.75 -&gt; LMC 0.58), but only within about 0.05 km of a sampling site. That is very close to the short-range lengthscale LMC learned (0.052 km), so I think the gain comes from borrowing at the same location.</a:t>
            </a:r>
            <a:endParaRPr lang="en-US" sz="1050" dirty="0"/>
          </a:p>
        </p:txBody>
      </p:sp>
      <p:sp>
        <p:nvSpPr>
          <p:cNvPr id="8" name="Text 5"/>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9" name="Text 6"/>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Where on the map does the model become more confident?</a:t>
            </a:r>
            <a:endParaRPr lang="en-US" sz="2600" dirty="0"/>
          </a:p>
        </p:txBody>
      </p:sp>
      <p:pic>
        <p:nvPicPr>
          <p:cNvPr id="5" name="Image 0" descr="/mnt/user-data/uploads/Research/figures/stage9_spatial_maps.png"/>
          <p:cNvPicPr>
            <a:picLocks noChangeAspect="1"/>
          </p:cNvPicPr>
          <p:nvPr/>
        </p:nvPicPr>
        <p:blipFill>
          <a:blip r:embed="rId1"/>
          <a:stretch>
            <a:fillRect/>
          </a:stretch>
        </p:blipFill>
        <p:spPr>
          <a:xfrm>
            <a:off x="2875948" y="1371600"/>
            <a:ext cx="6439799" cy="3977640"/>
          </a:xfrm>
          <a:prstGeom prst="rect">
            <a:avLst/>
          </a:prstGeom>
        </p:spPr>
      </p:pic>
      <p:sp>
        <p:nvSpPr>
          <p:cNvPr id="6" name="Shape 3"/>
          <p:cNvSpPr/>
          <p:nvPr/>
        </p:nvSpPr>
        <p:spPr>
          <a:xfrm>
            <a:off x="457200" y="5440680"/>
            <a:ext cx="11247120" cy="1051560"/>
          </a:xfrm>
          <a:prstGeom prst="roundRect">
            <a:avLst>
              <a:gd name="adj" fmla="val 6957"/>
            </a:avLst>
          </a:prstGeom>
          <a:solidFill>
            <a:srgbClr val="F3F4F6"/>
          </a:solidFill>
          <a:effectLst>
            <a:outerShdw blurRad="76200" dist="25400" dir="5400000" algn="bl" rotWithShape="0">
              <a:srgbClr val="1F2937">
                <a:alpha val="12000"/>
              </a:srgbClr>
            </a:outerShdw>
          </a:effectLst>
        </p:spPr>
        <p:txBody>
          <a:bodyPr/>
          <a:p/>
        </p:txBody>
      </p:sp>
      <p:sp>
        <p:nvSpPr>
          <p:cNvPr id="7" name="Text 4"/>
          <p:cNvSpPr txBox="1"/>
          <p:nvPr/>
        </p:nvSpPr>
        <p:spPr>
          <a:xfrm>
            <a:off x="713232" y="5623560"/>
            <a:ext cx="10735056" cy="68580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How to read this</a:t>
            </a:r>
            <a:endParaRPr lang="en-US" sz="1050" dirty="0"/>
          </a:p>
          <a:p>
            <a:pPr marL="0" indent="0">
              <a:lnSpc>
                <a:spcPct val="115000"/>
              </a:lnSpc>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Top row: predicted Cd for the independent GP and for LMC, and the difference between them. Bottom row: the uncertainty of each model, and on the right the percentage reduction. The red areas - where LMC is more confident - sit almost entirely on the sampling sites. In the gaps between sites there is almost no gain.</a:t>
            </a:r>
            <a:endParaRPr lang="en-US" sz="1050" dirty="0"/>
          </a:p>
        </p:txBody>
      </p:sp>
      <p:sp>
        <p:nvSpPr>
          <p:cNvPr id="8" name="Text 5"/>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9" name="Text 6"/>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How far does the borrowing reach?</a:t>
            </a:r>
            <a:endParaRPr lang="en-US" sz="2600" dirty="0"/>
          </a:p>
        </p:txBody>
      </p:sp>
      <p:sp>
        <p:nvSpPr>
          <p:cNvPr id="5" name="Shape 3"/>
          <p:cNvSpPr/>
          <p:nvPr/>
        </p:nvSpPr>
        <p:spPr>
          <a:xfrm>
            <a:off x="457200" y="1417320"/>
            <a:ext cx="3566160" cy="1051560"/>
          </a:xfrm>
          <a:prstGeom prst="roundRect">
            <a:avLst>
              <a:gd name="adj" fmla="val 6957"/>
            </a:avLst>
          </a:prstGeom>
          <a:solidFill>
            <a:srgbClr val="F3F4F6"/>
          </a:solidFill>
          <a:effectLst>
            <a:outerShdw blurRad="76200" dist="25400" dir="5400000" algn="bl" rotWithShape="0">
              <a:srgbClr val="1F2937">
                <a:alpha val="10000"/>
              </a:srgbClr>
            </a:outerShdw>
          </a:effectLst>
        </p:spPr>
        <p:txBody>
          <a:bodyPr/>
          <a:p/>
        </p:txBody>
      </p:sp>
      <p:sp>
        <p:nvSpPr>
          <p:cNvPr id="6" name="Text 4"/>
          <p:cNvSpPr txBox="1"/>
          <p:nvPr/>
        </p:nvSpPr>
        <p:spPr>
          <a:xfrm>
            <a:off x="640080" y="1545336"/>
            <a:ext cx="3200400" cy="483718"/>
          </a:xfrm>
          <a:prstGeom prst="rect">
            <a:avLst/>
          </a:prstGeom>
          <a:noFill/>
        </p:spPr>
        <p:txBody>
          <a:bodyPr wrap="square" lIns="0" tIns="0" rIns="0" bIns="0" rtlCol="0" anchor="b"/>
          <a:lstStyle/>
          <a:p>
            <a:pPr marL="0" indent="0" algn="l">
              <a:buNone/>
            </a:pPr>
            <a:r>
              <a:rPr lang="en-US" sz="2600" b="1" dirty="0">
                <a:solidFill>
                  <a:srgbClr val="C0654F"/>
                </a:solidFill>
                <a:latin typeface="Cambria" panose="02040503050406030204" pitchFamily="34" charset="0"/>
                <a:ea typeface="Cambria" panose="02040503050406030204" pitchFamily="34" charset="-122"/>
                <a:cs typeface="Cambria" panose="02040503050406030204" pitchFamily="34" charset="-120"/>
              </a:rPr>
              <a:t>~0.05 km</a:t>
            </a:r>
            <a:endParaRPr lang="en-US" sz="2600" dirty="0"/>
          </a:p>
        </p:txBody>
      </p:sp>
      <p:sp>
        <p:nvSpPr>
          <p:cNvPr id="7" name="Text 5"/>
          <p:cNvSpPr txBox="1"/>
          <p:nvPr/>
        </p:nvSpPr>
        <p:spPr>
          <a:xfrm>
            <a:off x="640080" y="2111350"/>
            <a:ext cx="3200400" cy="336499"/>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Where the two curves cross</a:t>
            </a:r>
            <a:endParaRPr lang="en-US" sz="1100" dirty="0"/>
          </a:p>
        </p:txBody>
      </p:sp>
      <p:sp>
        <p:nvSpPr>
          <p:cNvPr id="8" name="Shape 6"/>
          <p:cNvSpPr/>
          <p:nvPr/>
        </p:nvSpPr>
        <p:spPr>
          <a:xfrm>
            <a:off x="4160520" y="1417320"/>
            <a:ext cx="3566160" cy="1051560"/>
          </a:xfrm>
          <a:prstGeom prst="roundRect">
            <a:avLst>
              <a:gd name="adj" fmla="val 6957"/>
            </a:avLst>
          </a:prstGeom>
          <a:solidFill>
            <a:srgbClr val="F3F4F6"/>
          </a:solidFill>
          <a:effectLst>
            <a:outerShdw blurRad="76200" dist="25400" dir="5400000" algn="bl" rotWithShape="0">
              <a:srgbClr val="1F2937">
                <a:alpha val="10000"/>
              </a:srgbClr>
            </a:outerShdw>
          </a:effectLst>
        </p:spPr>
        <p:txBody>
          <a:bodyPr/>
          <a:p/>
        </p:txBody>
      </p:sp>
      <p:sp>
        <p:nvSpPr>
          <p:cNvPr id="9" name="Text 7"/>
          <p:cNvSpPr txBox="1"/>
          <p:nvPr/>
        </p:nvSpPr>
        <p:spPr>
          <a:xfrm>
            <a:off x="4343400" y="1545336"/>
            <a:ext cx="3200400" cy="483718"/>
          </a:xfrm>
          <a:prstGeom prst="rect">
            <a:avLst/>
          </a:prstGeom>
          <a:noFill/>
        </p:spPr>
        <p:txBody>
          <a:bodyPr wrap="square" lIns="0" tIns="0" rIns="0" bIns="0" rtlCol="0" anchor="b"/>
          <a:lstStyle/>
          <a:p>
            <a:pPr marL="0" indent="0" algn="l">
              <a:buNone/>
            </a:pPr>
            <a:r>
              <a:rPr lang="en-US" sz="2600" b="1" dirty="0">
                <a:solidFill>
                  <a:srgbClr val="4C72B0"/>
                </a:solidFill>
                <a:latin typeface="Cambria" panose="02040503050406030204" pitchFamily="34" charset="0"/>
                <a:ea typeface="Cambria" panose="02040503050406030204" pitchFamily="34" charset="-122"/>
                <a:cs typeface="Cambria" panose="02040503050406030204" pitchFamily="34" charset="-120"/>
              </a:rPr>
              <a:t>0.052 km</a:t>
            </a:r>
            <a:endParaRPr lang="en-US" sz="2600" dirty="0"/>
          </a:p>
        </p:txBody>
      </p:sp>
      <p:sp>
        <p:nvSpPr>
          <p:cNvPr id="10" name="Text 8"/>
          <p:cNvSpPr txBox="1"/>
          <p:nvPr/>
        </p:nvSpPr>
        <p:spPr>
          <a:xfrm>
            <a:off x="4343400" y="2111350"/>
            <a:ext cx="3200400" cy="336499"/>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The short-range lengthscale LMC learned</a:t>
            </a:r>
            <a:endParaRPr lang="en-US" sz="1100" dirty="0"/>
          </a:p>
        </p:txBody>
      </p:sp>
      <p:sp>
        <p:nvSpPr>
          <p:cNvPr id="11" name="Shape 9"/>
          <p:cNvSpPr/>
          <p:nvPr/>
        </p:nvSpPr>
        <p:spPr>
          <a:xfrm>
            <a:off x="7863840" y="1417320"/>
            <a:ext cx="3840480" cy="1051560"/>
          </a:xfrm>
          <a:prstGeom prst="roundRect">
            <a:avLst>
              <a:gd name="adj" fmla="val 6957"/>
            </a:avLst>
          </a:prstGeom>
          <a:solidFill>
            <a:srgbClr val="F3F4F6"/>
          </a:solidFill>
          <a:effectLst>
            <a:outerShdw blurRad="76200" dist="25400" dir="5400000" algn="bl" rotWithShape="0">
              <a:srgbClr val="1F2937">
                <a:alpha val="10000"/>
              </a:srgbClr>
            </a:outerShdw>
          </a:effectLst>
        </p:spPr>
        <p:txBody>
          <a:bodyPr/>
          <a:p/>
        </p:txBody>
      </p:sp>
      <p:sp>
        <p:nvSpPr>
          <p:cNvPr id="12" name="Text 10"/>
          <p:cNvSpPr txBox="1"/>
          <p:nvPr/>
        </p:nvSpPr>
        <p:spPr>
          <a:xfrm>
            <a:off x="8046720" y="1545336"/>
            <a:ext cx="3474720" cy="483718"/>
          </a:xfrm>
          <a:prstGeom prst="rect">
            <a:avLst/>
          </a:prstGeom>
          <a:noFill/>
        </p:spPr>
        <p:txBody>
          <a:bodyPr wrap="square" lIns="0" tIns="0" rIns="0" bIns="0" rtlCol="0" anchor="b"/>
          <a:lstStyle/>
          <a:p>
            <a:pPr marL="0" indent="0" algn="l">
              <a:buNone/>
            </a:pPr>
            <a:r>
              <a:rPr lang="en-US" sz="2000" b="1" dirty="0">
                <a:solidFill>
                  <a:srgbClr val="1F2937"/>
                </a:solidFill>
                <a:latin typeface="Cambria" panose="02040503050406030204" pitchFamily="34" charset="0"/>
                <a:ea typeface="Cambria" panose="02040503050406030204" pitchFamily="34" charset="-122"/>
                <a:cs typeface="Cambria" panose="02040503050406030204" pitchFamily="34" charset="-120"/>
              </a:rPr>
              <a:t>0.125 / 0.25 km</a:t>
            </a:r>
            <a:endParaRPr lang="en-US" sz="2000" dirty="0"/>
          </a:p>
        </p:txBody>
      </p:sp>
      <p:sp>
        <p:nvSpPr>
          <p:cNvPr id="13" name="Text 11"/>
          <p:cNvSpPr txBox="1"/>
          <p:nvPr/>
        </p:nvSpPr>
        <p:spPr>
          <a:xfrm>
            <a:off x="8046720" y="2111350"/>
            <a:ext cx="3474720" cy="336499"/>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Mean nearest-neighbour distance / grid spacing, for reference</a:t>
            </a:r>
            <a:endParaRPr lang="en-US" sz="1100" dirty="0"/>
          </a:p>
        </p:txBody>
      </p:sp>
      <p:pic>
        <p:nvPicPr>
          <p:cNvPr id="14" name="Image 0" descr="/mnt/user-data/uploads/Research/figures/stage9_uncertainty_vs_distance.png"/>
          <p:cNvPicPr>
            <a:picLocks noChangeAspect="1"/>
          </p:cNvPicPr>
          <p:nvPr/>
        </p:nvPicPr>
        <p:blipFill>
          <a:blip r:embed="rId1"/>
          <a:stretch>
            <a:fillRect/>
          </a:stretch>
        </p:blipFill>
        <p:spPr>
          <a:xfrm>
            <a:off x="1685994" y="2697480"/>
            <a:ext cx="8819708" cy="3246120"/>
          </a:xfrm>
          <a:prstGeom prst="rect">
            <a:avLst/>
          </a:prstGeom>
        </p:spPr>
      </p:pic>
      <p:sp>
        <p:nvSpPr>
          <p:cNvPr id="15" name="Shape 12"/>
          <p:cNvSpPr/>
          <p:nvPr/>
        </p:nvSpPr>
        <p:spPr>
          <a:xfrm>
            <a:off x="457200" y="6035040"/>
            <a:ext cx="11247120" cy="457200"/>
          </a:xfrm>
          <a:prstGeom prst="roundRect">
            <a:avLst>
              <a:gd name="adj" fmla="val 16000"/>
            </a:avLst>
          </a:prstGeom>
          <a:solidFill>
            <a:srgbClr val="F3E4E0"/>
          </a:solidFill>
          <a:effectLst>
            <a:outerShdw blurRad="76200" dist="25400" dir="5400000" algn="bl" rotWithShape="0">
              <a:srgbClr val="1F2937">
                <a:alpha val="12000"/>
              </a:srgbClr>
            </a:outerShdw>
          </a:effectLst>
        </p:spPr>
        <p:txBody>
          <a:bodyPr/>
          <a:p/>
        </p:txBody>
      </p:sp>
      <p:sp>
        <p:nvSpPr>
          <p:cNvPr id="16" name="Text 13"/>
          <p:cNvSpPr txBox="1"/>
          <p:nvPr/>
        </p:nvSpPr>
        <p:spPr>
          <a:xfrm>
            <a:off x="713232" y="6217920"/>
            <a:ext cx="10735056" cy="91440"/>
          </a:xfrm>
          <a:prstGeom prst="rect">
            <a:avLst/>
          </a:prstGeom>
          <a:noFill/>
        </p:spPr>
        <p:txBody>
          <a:bodyPr wrap="square" lIns="0" tIns="0" rIns="0" bIns="0" rtlCol="0" anchor="t"/>
          <a:lstStyle/>
          <a:p>
            <a:pPr marL="0" indent="0">
              <a:lnSpc>
                <a:spcPct val="115000"/>
              </a:lnSpc>
              <a:buNone/>
            </a:pPr>
            <a:r>
              <a:rPr lang="en-US" sz="1200" dirty="0">
                <a:solidFill>
                  <a:srgbClr val="1F2937"/>
                </a:solidFill>
                <a:latin typeface="Calibri" panose="020F0502020204030204" pitchFamily="34" charset="0"/>
                <a:ea typeface="Calibri" panose="020F0502020204030204" pitchFamily="34" charset="-122"/>
                <a:cs typeface="Calibri" panose="020F0502020204030204" pitchFamily="34" charset="-120"/>
              </a:rPr>
              <a:t>These two numbers came out almost the same, which is why I think the borrowing only works within about one short-range lengthscale.</a:t>
            </a:r>
            <a:endParaRPr lang="en-US" sz="1200" dirty="0"/>
          </a:p>
        </p:txBody>
      </p:sp>
      <p:sp>
        <p:nvSpPr>
          <p:cNvPr id="17" name="Text 14"/>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8" name="Text 15"/>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The two scales, and what I think they mean</a:t>
            </a:r>
            <a:endParaRPr lang="en-US" sz="2600" dirty="0"/>
          </a:p>
        </p:txBody>
      </p:sp>
      <p:pic>
        <p:nvPicPr>
          <p:cNvPr id="5" name="Image 0" descr="/mnt/user-data/uploads/Research/figures/stage9_latent_decomposition.png"/>
          <p:cNvPicPr>
            <a:picLocks noChangeAspect="1"/>
          </p:cNvPicPr>
          <p:nvPr/>
        </p:nvPicPr>
        <p:blipFill>
          <a:blip r:embed="rId1"/>
          <a:stretch>
            <a:fillRect/>
          </a:stretch>
        </p:blipFill>
        <p:spPr>
          <a:xfrm>
            <a:off x="1548514" y="1371600"/>
            <a:ext cx="9094668" cy="2788920"/>
          </a:xfrm>
          <a:prstGeom prst="rect">
            <a:avLst/>
          </a:prstGeom>
        </p:spPr>
      </p:pic>
      <p:graphicFrame>
        <p:nvGraphicFramePr>
          <p:cNvPr id="13" name="Table 0"/>
          <p:cNvGraphicFramePr>
            <a:graphicFrameLocks noGrp="1"/>
          </p:cNvGraphicFramePr>
          <p:nvPr/>
        </p:nvGraphicFramePr>
        <p:xfrm>
          <a:off x="457200" y="4251960"/>
          <a:ext cx="8138160" cy="1280160"/>
        </p:xfrm>
        <a:graphic>
          <a:graphicData uri="http://schemas.openxmlformats.org/drawingml/2006/table">
            <a:tbl>
              <a:tblPr/>
              <a:tblGrid>
                <a:gridCol w="1417320"/>
                <a:gridCol w="1600200"/>
                <a:gridCol w="1371600"/>
                <a:gridCol w="1188720"/>
                <a:gridCol w="2560320"/>
              </a:tblGrid>
              <a:tr h="365760">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Latent function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Scale ℓ (km)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Share of Cd var.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Cd-Ni corr.</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Interpretation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r>
              <a:tr h="457200">
                <a:tc>
                  <a:txBody>
                    <a:bodyPr/>
                    <a:lstStyle/>
                    <a:p>
                      <a:pPr marL="0" indent="0">
                        <a:buNone/>
                      </a:pPr>
                      <a:r>
                        <a:rPr lang="en-US" sz="1250" b="1" dirty="0">
                          <a:solidFill>
                            <a:srgbClr val="1F2937"/>
                          </a:solidFill>
                          <a:latin typeface="Calibri" panose="020F0502020204030204" pitchFamily="34" charset="0"/>
                          <a:ea typeface="Calibri" panose="020F0502020204030204" pitchFamily="34" charset="-122"/>
                          <a:cs typeface="Calibri" panose="020F0502020204030204" pitchFamily="34" charset="-120"/>
                        </a:rPr>
                        <a:t>q=1 short-range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0.052 × 0.042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77.7%</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0.673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Local anthropogenic input (pollution)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r h="457200">
                <a:tc>
                  <a:txBody>
                    <a:bodyPr/>
                    <a:lstStyle/>
                    <a:p>
                      <a:pPr marL="0" indent="0">
                        <a:buNone/>
                      </a:pPr>
                      <a:r>
                        <a:rPr lang="en-US" sz="1250" b="1" dirty="0">
                          <a:solidFill>
                            <a:srgbClr val="1F2937"/>
                          </a:solidFill>
                          <a:latin typeface="Calibri" panose="020F0502020204030204" pitchFamily="34" charset="0"/>
                          <a:ea typeface="Calibri" panose="020F0502020204030204" pitchFamily="34" charset="-122"/>
                          <a:cs typeface="Calibri" panose="020F0502020204030204" pitchFamily="34" charset="-120"/>
                        </a:rPr>
                        <a:t>q=2 long-range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0.511 × 0.347</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22.3%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0.941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250" dirty="0">
                          <a:solidFill>
                            <a:srgbClr val="1F2937"/>
                          </a:solidFill>
                          <a:latin typeface="Calibri" panose="020F0502020204030204" pitchFamily="34" charset="0"/>
                          <a:ea typeface="Calibri" panose="020F0502020204030204" pitchFamily="34" charset="-122"/>
                          <a:cs typeface="Calibri" panose="020F0502020204030204" pitchFamily="34" charset="-120"/>
                        </a:rPr>
                        <a:t>Regional geological background</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
        <p:nvSpPr>
          <p:cNvPr id="7" name="Shape 3"/>
          <p:cNvSpPr/>
          <p:nvPr/>
        </p:nvSpPr>
        <p:spPr>
          <a:xfrm>
            <a:off x="8778240" y="4251960"/>
            <a:ext cx="2926080" cy="1920240"/>
          </a:xfrm>
          <a:prstGeom prst="roundRect">
            <a:avLst>
              <a:gd name="adj" fmla="val 3810"/>
            </a:avLst>
          </a:prstGeom>
          <a:solidFill>
            <a:srgbClr val="F3E4E0"/>
          </a:solidFill>
          <a:effectLst>
            <a:outerShdw blurRad="76200" dist="25400" dir="5400000" algn="bl" rotWithShape="0">
              <a:srgbClr val="1F2937">
                <a:alpha val="12000"/>
              </a:srgbClr>
            </a:outerShdw>
          </a:effectLst>
        </p:spPr>
        <p:txBody>
          <a:bodyPr/>
          <a:p/>
        </p:txBody>
      </p:sp>
      <p:sp>
        <p:nvSpPr>
          <p:cNvPr id="8" name="Text 4"/>
          <p:cNvSpPr txBox="1"/>
          <p:nvPr/>
        </p:nvSpPr>
        <p:spPr>
          <a:xfrm>
            <a:off x="9034272" y="4434840"/>
            <a:ext cx="2414016" cy="155448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9C4A3A"/>
                </a:solidFill>
                <a:latin typeface="Calibri" panose="020F0502020204030204" pitchFamily="34" charset="0"/>
                <a:ea typeface="Calibri" panose="020F0502020204030204" pitchFamily="34" charset="-122"/>
                <a:cs typeface="Calibri" panose="020F0502020204030204" pitchFamily="34" charset="-120"/>
              </a:rPr>
              <a:t>Something I found surprising</a:t>
            </a:r>
            <a:endParaRPr lang="en-US" sz="1050" dirty="0"/>
          </a:p>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The long-range component accounts for only 22% of Cd's prior variance, but it contributes about 63% of the variation in the actual prediction surface. So variance share and actual influence are not the same thing.</a:t>
            </a:r>
            <a:endParaRPr lang="en-US" sz="1050" dirty="0"/>
          </a:p>
        </p:txBody>
      </p:sp>
      <p:sp>
        <p:nvSpPr>
          <p:cNvPr id="9" name="Text 5"/>
          <p:cNvSpPr txBox="1"/>
          <p:nvPr/>
        </p:nvSpPr>
        <p:spPr>
          <a:xfrm>
            <a:off x="457200" y="5669280"/>
            <a:ext cx="8138160" cy="594360"/>
          </a:xfrm>
          <a:prstGeom prst="rect">
            <a:avLst/>
          </a:prstGeom>
          <a:noFill/>
        </p:spPr>
        <p:txBody>
          <a:bodyPr wrap="square" lIns="0" tIns="0" rIns="0" bIns="0" rtlCol="0" anchor="ctr"/>
          <a:lstStyle/>
          <a:p>
            <a:pPr marL="0" indent="0">
              <a:lnSpc>
                <a:spcPct val="120000"/>
              </a:lnSpc>
              <a:buNone/>
            </a:pPr>
            <a:r>
              <a:rPr lang="en-US" sz="1200" i="1" dirty="0">
                <a:solidFill>
                  <a:srgbClr val="6B7280"/>
                </a:solidFill>
                <a:latin typeface="Calibri" panose="020F0502020204030204" pitchFamily="34" charset="0"/>
                <a:ea typeface="Calibri" panose="020F0502020204030204" pitchFamily="34" charset="-122"/>
                <a:cs typeface="Calibri" panose="020F0502020204030204" pitchFamily="34" charset="-120"/>
              </a:rPr>
              <a:t>The long-range component's cross-output correlation is close to 1. My interpretation is that at that scale the three metals behave almost like scaled copies of the same underlying field.</a:t>
            </a:r>
            <a:endParaRPr lang="en-US" sz="1200" dirty="0"/>
          </a:p>
        </p:txBody>
      </p:sp>
      <p:sp>
        <p:nvSpPr>
          <p:cNvPr id="10" name="Text 6"/>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1" name="Text 7"/>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14</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A result I want to mention up front</a:t>
            </a:r>
            <a:endParaRPr lang="en-US" sz="2600" dirty="0"/>
          </a:p>
        </p:txBody>
      </p:sp>
      <p:sp>
        <p:nvSpPr>
          <p:cNvPr id="5" name="Shape 3"/>
          <p:cNvSpPr/>
          <p:nvPr/>
        </p:nvSpPr>
        <p:spPr>
          <a:xfrm>
            <a:off x="457200" y="1417320"/>
            <a:ext cx="3566160" cy="1234440"/>
          </a:xfrm>
          <a:prstGeom prst="roundRect">
            <a:avLst>
              <a:gd name="adj" fmla="val 5926"/>
            </a:avLst>
          </a:prstGeom>
          <a:solidFill>
            <a:srgbClr val="F3F4F6"/>
          </a:solidFill>
          <a:effectLst>
            <a:outerShdw blurRad="76200" dist="25400" dir="5400000" algn="bl" rotWithShape="0">
              <a:srgbClr val="1F2937">
                <a:alpha val="10000"/>
              </a:srgbClr>
            </a:outerShdw>
          </a:effectLst>
        </p:spPr>
        <p:txBody>
          <a:bodyPr/>
          <a:p/>
        </p:txBody>
      </p:sp>
      <p:sp>
        <p:nvSpPr>
          <p:cNvPr id="6" name="Text 4"/>
          <p:cNvSpPr txBox="1"/>
          <p:nvPr/>
        </p:nvSpPr>
        <p:spPr>
          <a:xfrm>
            <a:off x="640080" y="1545336"/>
            <a:ext cx="3200400" cy="567842"/>
          </a:xfrm>
          <a:prstGeom prst="rect">
            <a:avLst/>
          </a:prstGeom>
          <a:noFill/>
        </p:spPr>
        <p:txBody>
          <a:bodyPr wrap="square" lIns="0" tIns="0" rIns="0" bIns="0" rtlCol="0" anchor="b"/>
          <a:lstStyle/>
          <a:p>
            <a:pPr marL="0" indent="0" algn="l">
              <a:buNone/>
            </a:pPr>
            <a:r>
              <a:rPr lang="en-US" sz="2800" b="1" dirty="0">
                <a:solidFill>
                  <a:srgbClr val="1F2937"/>
                </a:solidFill>
                <a:latin typeface="Cambria" panose="02040503050406030204" pitchFamily="34" charset="0"/>
                <a:ea typeface="Cambria" panose="02040503050406030204" pitchFamily="34" charset="-122"/>
                <a:cs typeface="Cambria" panose="02040503050406030204" pitchFamily="34" charset="-120"/>
              </a:rPr>
              <a:t>5 / 10</a:t>
            </a:r>
            <a:endParaRPr lang="en-US" sz="2800" dirty="0"/>
          </a:p>
        </p:txBody>
      </p:sp>
      <p:sp>
        <p:nvSpPr>
          <p:cNvPr id="7" name="Text 5"/>
          <p:cNvSpPr txBox="1"/>
          <p:nvPr/>
        </p:nvSpPr>
        <p:spPr>
          <a:xfrm>
            <a:off x="640080" y="2232050"/>
            <a:ext cx="3200400" cy="395021"/>
          </a:xfrm>
          <a:prstGeom prst="rect">
            <a:avLst/>
          </a:prstGeom>
          <a:noFill/>
        </p:spPr>
        <p:txBody>
          <a:bodyPr wrap="square" lIns="0" tIns="0" rIns="0" bIns="0" rtlCol="0" anchor="t"/>
          <a:lstStyle/>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LMC vs. ICM, splits won</a:t>
            </a:r>
            <a:endParaRPr lang="en-US" sz="1100" dirty="0"/>
          </a:p>
          <a:p>
            <a:pPr marL="0" indent="0" algn="l">
              <a:lnSpc>
                <a:spcPct val="110000"/>
              </a:lnSpc>
              <a:buNone/>
            </a:pPr>
            <a:r>
              <a:rPr lang="en-US" sz="1100" dirty="0">
                <a:solidFill>
                  <a:srgbClr val="6B7280"/>
                </a:solidFill>
                <a:latin typeface="Calibri" panose="020F0502020204030204" pitchFamily="34" charset="0"/>
                <a:ea typeface="Calibri" panose="020F0502020204030204" pitchFamily="34" charset="-122"/>
                <a:cs typeface="Calibri" panose="020F0502020204030204" pitchFamily="34" charset="-120"/>
              </a:rPr>
              <a:t>p = 0.19 - not significant</a:t>
            </a:r>
            <a:endParaRPr lang="en-US" sz="1100" dirty="0"/>
          </a:p>
        </p:txBody>
      </p:sp>
      <p:graphicFrame>
        <p:nvGraphicFramePr>
          <p:cNvPr id="14" name="Table 0"/>
          <p:cNvGraphicFramePr>
            <a:graphicFrameLocks noGrp="1"/>
          </p:cNvGraphicFramePr>
          <p:nvPr/>
        </p:nvGraphicFramePr>
        <p:xfrm>
          <a:off x="457200" y="2880360"/>
          <a:ext cx="3566160" cy="1417320"/>
        </p:xfrm>
        <a:graphic>
          <a:graphicData uri="http://schemas.openxmlformats.org/drawingml/2006/table">
            <a:tbl>
              <a:tblPr/>
              <a:tblGrid>
                <a:gridCol w="1371600"/>
                <a:gridCol w="1280160"/>
                <a:gridCol w="914400"/>
              </a:tblGrid>
              <a:tr h="365760">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lengthscale (km)</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Cd-Ni corr.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F2937"/>
                    </a:solidFill>
                  </a:tcPr>
                </a:tc>
              </a:tr>
              <a:tr h="347472">
                <a:tc>
                  <a:txBody>
                    <a:bodyPr/>
                    <a:lstStyle/>
                    <a:p>
                      <a:pPr marL="0" indent="0">
                        <a:buNone/>
                      </a:pPr>
                      <a:r>
                        <a:rPr lang="en-US" sz="1150" b="1" dirty="0">
                          <a:solidFill>
                            <a:srgbClr val="1F2937"/>
                          </a:solidFill>
                          <a:latin typeface="Calibri" panose="020F0502020204030204" pitchFamily="34" charset="0"/>
                          <a:ea typeface="Calibri" panose="020F0502020204030204" pitchFamily="34" charset="-122"/>
                          <a:cs typeface="Calibri" panose="020F0502020204030204" pitchFamily="34" charset="-120"/>
                        </a:rPr>
                        <a:t>ICM (its only one)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(0.079, 0.058)</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0.743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r h="347472">
                <a:tc>
                  <a:txBody>
                    <a:bodyPr/>
                    <a:lstStyle/>
                    <a:p>
                      <a:pPr marL="0" indent="0">
                        <a:buNone/>
                      </a:pPr>
                      <a:r>
                        <a:rPr lang="en-US" sz="1150" b="1" dirty="0">
                          <a:solidFill>
                            <a:srgbClr val="1F2937"/>
                          </a:solidFill>
                          <a:latin typeface="Calibri" panose="020F0502020204030204" pitchFamily="34" charset="0"/>
                          <a:ea typeface="Calibri" panose="020F0502020204030204" pitchFamily="34" charset="-122"/>
                          <a:cs typeface="Calibri" panose="020F0502020204030204" pitchFamily="34" charset="-120"/>
                        </a:rPr>
                        <a:t>LMC q=1 (short-range)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(0.052, 0.042)</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0.673</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47472">
                <a:tc>
                  <a:txBody>
                    <a:bodyPr/>
                    <a:lstStyle/>
                    <a:p>
                      <a:pPr marL="0" indent="0">
                        <a:buNone/>
                      </a:pPr>
                      <a:r>
                        <a:rPr lang="en-US" sz="1150" b="1" dirty="0">
                          <a:solidFill>
                            <a:srgbClr val="1F2937"/>
                          </a:solidFill>
                          <a:latin typeface="Calibri" panose="020F0502020204030204" pitchFamily="34" charset="0"/>
                          <a:ea typeface="Calibri" panose="020F0502020204030204" pitchFamily="34" charset="-122"/>
                          <a:cs typeface="Calibri" panose="020F0502020204030204" pitchFamily="34" charset="-120"/>
                        </a:rPr>
                        <a:t>LMC q=2 (long-range)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(0.511, 0.347)</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c>
                  <a:txBody>
                    <a:bodyPr/>
                    <a:lstStyle/>
                    <a:p>
                      <a:pPr marL="0" indent="0">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0.941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4F6"/>
                    </a:solidFill>
                  </a:tcPr>
                </a:tc>
              </a:tr>
            </a:tbl>
          </a:graphicData>
        </a:graphic>
      </p:graphicFrame>
      <p:pic>
        <p:nvPicPr>
          <p:cNvPr id="9" name="Image 0" descr="/tmp/crops/blend_bar.png"/>
          <p:cNvPicPr>
            <a:picLocks noChangeAspect="1"/>
          </p:cNvPicPr>
          <p:nvPr/>
        </p:nvPicPr>
        <p:blipFill>
          <a:blip r:embed="rId1"/>
          <a:stretch>
            <a:fillRect/>
          </a:stretch>
        </p:blipFill>
        <p:spPr>
          <a:xfrm>
            <a:off x="7818120" y="1417320"/>
            <a:ext cx="4059296" cy="4709160"/>
          </a:xfrm>
          <a:prstGeom prst="rect">
            <a:avLst/>
          </a:prstGeom>
        </p:spPr>
      </p:pic>
      <p:sp>
        <p:nvSpPr>
          <p:cNvPr id="10" name="Shape 6"/>
          <p:cNvSpPr/>
          <p:nvPr/>
        </p:nvSpPr>
        <p:spPr>
          <a:xfrm>
            <a:off x="457200" y="4526280"/>
            <a:ext cx="6995160" cy="1783080"/>
          </a:xfrm>
          <a:prstGeom prst="roundRect">
            <a:avLst>
              <a:gd name="adj" fmla="val 4103"/>
            </a:avLst>
          </a:prstGeom>
          <a:solidFill>
            <a:srgbClr val="F3E4E0"/>
          </a:solidFill>
          <a:effectLst>
            <a:outerShdw blurRad="76200" dist="25400" dir="5400000" algn="bl" rotWithShape="0">
              <a:srgbClr val="1F2937">
                <a:alpha val="12000"/>
              </a:srgbClr>
            </a:outerShdw>
          </a:effectLst>
        </p:spPr>
        <p:txBody>
          <a:bodyPr/>
          <a:p/>
        </p:txBody>
      </p:sp>
      <p:sp>
        <p:nvSpPr>
          <p:cNvPr id="11" name="Text 7"/>
          <p:cNvSpPr txBox="1"/>
          <p:nvPr/>
        </p:nvSpPr>
        <p:spPr>
          <a:xfrm>
            <a:off x="713232" y="4709160"/>
            <a:ext cx="6483096" cy="141732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9C4A3A"/>
                </a:solidFill>
                <a:latin typeface="Calibri" panose="020F0502020204030204" pitchFamily="34" charset="0"/>
                <a:ea typeface="Calibri" panose="020F0502020204030204" pitchFamily="34" charset="-122"/>
                <a:cs typeface="Calibri" panose="020F0502020204030204" pitchFamily="34" charset="-120"/>
              </a:rPr>
              <a:t>Something I should mention</a:t>
            </a:r>
            <a:endParaRPr lang="en-US" sz="1050" dirty="0"/>
          </a:p>
          <a:p>
            <a:pPr marL="0" indent="0">
              <a:lnSpc>
                <a:spcPct val="115000"/>
              </a:lnSpc>
              <a:buNone/>
            </a:pPr>
            <a:r>
              <a:rPr lang="en-US" sz="1150" dirty="0">
                <a:solidFill>
                  <a:srgbClr val="1F2937"/>
                </a:solidFill>
                <a:latin typeface="Calibri" panose="020F0502020204030204" pitchFamily="34" charset="0"/>
                <a:ea typeface="Calibri" panose="020F0502020204030204" pitchFamily="34" charset="-122"/>
                <a:cs typeface="Calibri" panose="020F0502020204030204" pitchFamily="34" charset="-120"/>
              </a:rPr>
              <a:t>I expected LMC to predict better than ICM, but the test says it does not - it only won 5 of 10 splits, so I cannot claim LMC is more accurate. What I did notice is that ICM has only one correlation value (about 0.74), while LMC splits it into 0.67 and 0.94, and ICM's number sits right between them. My understanding is that the two scales are being averaged together, and ICM's structure has no way to separate them. That average is also what made me think Cd's spatial correlation was weak at first.</a:t>
            </a:r>
            <a:endParaRPr lang="en-US" sz="1050" dirty="0"/>
          </a:p>
        </p:txBody>
      </p:sp>
      <p:sp>
        <p:nvSpPr>
          <p:cNvPr id="12" name="Text 8"/>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3" name="Text 9"/>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1F2937"/>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1F2937"/>
                </a:solidFill>
                <a:latin typeface="Cambria" panose="02040503050406030204" pitchFamily="34" charset="0"/>
                <a:ea typeface="Cambria" panose="02040503050406030204" pitchFamily="34" charset="-122"/>
                <a:cs typeface="Cambria" panose="02040503050406030204" pitchFamily="34" charset="-120"/>
              </a:rPr>
              <a:t>Summary</a:t>
            </a:r>
            <a:endParaRPr lang="en-US" sz="2600" dirty="0"/>
          </a:p>
        </p:txBody>
      </p:sp>
      <p:sp>
        <p:nvSpPr>
          <p:cNvPr id="5" name="Shape 3"/>
          <p:cNvSpPr/>
          <p:nvPr/>
        </p:nvSpPr>
        <p:spPr>
          <a:xfrm>
            <a:off x="457200" y="1463040"/>
            <a:ext cx="5440680" cy="2834640"/>
          </a:xfrm>
          <a:prstGeom prst="roundRect">
            <a:avLst>
              <a:gd name="adj" fmla="val 3226"/>
            </a:avLst>
          </a:prstGeom>
          <a:solidFill>
            <a:srgbClr val="E3E9F5"/>
          </a:solidFill>
          <a:effectLst>
            <a:outerShdw blurRad="76200" dist="25400" dir="5400000" algn="bl" rotWithShape="0">
              <a:srgbClr val="1F2937">
                <a:alpha val="10000"/>
              </a:srgbClr>
            </a:outerShdw>
          </a:effectLst>
        </p:spPr>
        <p:txBody>
          <a:bodyPr/>
          <a:p/>
        </p:txBody>
      </p:sp>
      <p:sp>
        <p:nvSpPr>
          <p:cNvPr id="6" name="Text 4"/>
          <p:cNvSpPr txBox="1"/>
          <p:nvPr/>
        </p:nvSpPr>
        <p:spPr>
          <a:xfrm>
            <a:off x="777240" y="1691640"/>
            <a:ext cx="4800600" cy="502920"/>
          </a:xfrm>
          <a:prstGeom prst="rect">
            <a:avLst/>
          </a:prstGeom>
          <a:noFill/>
        </p:spPr>
        <p:txBody>
          <a:bodyPr wrap="square" lIns="0" tIns="0" rIns="0" bIns="0" rtlCol="0" anchor="ctr"/>
          <a:lstStyle/>
          <a:p>
            <a:pPr marL="0" indent="0">
              <a:buNone/>
            </a:pPr>
            <a:r>
              <a:rPr lang="en-US" sz="2100" b="1" dirty="0">
                <a:solidFill>
                  <a:srgbClr val="4C72B0"/>
                </a:solidFill>
                <a:latin typeface="Cambria" panose="02040503050406030204" pitchFamily="34" charset="0"/>
                <a:ea typeface="Cambria" panose="02040503050406030204" pitchFamily="34" charset="-122"/>
                <a:cs typeface="Cambria" panose="02040503050406030204" pitchFamily="34" charset="-120"/>
              </a:rPr>
              <a:t>What improved</a:t>
            </a:r>
            <a:endParaRPr lang="en-US" sz="2100" dirty="0"/>
          </a:p>
        </p:txBody>
      </p:sp>
      <p:sp>
        <p:nvSpPr>
          <p:cNvPr id="7" name="Text 5"/>
          <p:cNvSpPr txBox="1"/>
          <p:nvPr/>
        </p:nvSpPr>
        <p:spPr>
          <a:xfrm>
            <a:off x="777240" y="2286000"/>
            <a:ext cx="4800600" cy="1828800"/>
          </a:xfrm>
          <a:prstGeom prst="rect">
            <a:avLst/>
          </a:prstGeom>
          <a:noFill/>
        </p:spPr>
        <p:txBody>
          <a:bodyPr wrap="square" lIns="0" tIns="0" rIns="0" bIns="0" rtlCol="0" anchor="ctr"/>
          <a:lstStyle/>
          <a:p>
            <a:pPr marL="0" indent="0">
              <a:lnSpc>
                <a:spcPct val="130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Both multi-output models beat the single-output baseline on all 10 splits. The improvement seems to come mostly from having Ni / Zn measured at the same locations. Compared with a plain regression on those same co-located values, the GP still adds something - an uncertainty estimate, and the ability to keep predicting where Ni / Zn are missing.</a:t>
            </a:r>
            <a:endParaRPr lang="en-US" sz="1300" dirty="0"/>
          </a:p>
        </p:txBody>
      </p:sp>
      <p:sp>
        <p:nvSpPr>
          <p:cNvPr id="8" name="Shape 6"/>
          <p:cNvSpPr/>
          <p:nvPr/>
        </p:nvSpPr>
        <p:spPr>
          <a:xfrm>
            <a:off x="6172200" y="1463040"/>
            <a:ext cx="5440680" cy="2834640"/>
          </a:xfrm>
          <a:prstGeom prst="roundRect">
            <a:avLst>
              <a:gd name="adj" fmla="val 3226"/>
            </a:avLst>
          </a:prstGeom>
          <a:solidFill>
            <a:srgbClr val="F3E4E0"/>
          </a:solidFill>
          <a:effectLst>
            <a:outerShdw blurRad="76200" dist="25400" dir="5400000" algn="bl" rotWithShape="0">
              <a:srgbClr val="1F2937">
                <a:alpha val="10000"/>
              </a:srgbClr>
            </a:outerShdw>
          </a:effectLst>
        </p:spPr>
        <p:txBody>
          <a:bodyPr/>
          <a:p/>
        </p:txBody>
      </p:sp>
      <p:sp>
        <p:nvSpPr>
          <p:cNvPr id="9" name="Text 7"/>
          <p:cNvSpPr txBox="1"/>
          <p:nvPr/>
        </p:nvSpPr>
        <p:spPr>
          <a:xfrm>
            <a:off x="6492240" y="1691640"/>
            <a:ext cx="4800600" cy="502920"/>
          </a:xfrm>
          <a:prstGeom prst="rect">
            <a:avLst/>
          </a:prstGeom>
          <a:noFill/>
        </p:spPr>
        <p:txBody>
          <a:bodyPr wrap="square" lIns="0" tIns="0" rIns="0" bIns="0" rtlCol="0" anchor="ctr"/>
          <a:lstStyle/>
          <a:p>
            <a:pPr marL="0" indent="0">
              <a:buNone/>
            </a:pPr>
            <a:r>
              <a:rPr lang="en-US" sz="2100" b="1" dirty="0">
                <a:solidFill>
                  <a:srgbClr val="C0654F"/>
                </a:solidFill>
                <a:latin typeface="Cambria" panose="02040503050406030204" pitchFamily="34" charset="0"/>
                <a:ea typeface="Cambria" panose="02040503050406030204" pitchFamily="34" charset="-122"/>
                <a:cs typeface="Cambria" panose="02040503050406030204" pitchFamily="34" charset="-120"/>
              </a:rPr>
              <a:t>What I found interesting</a:t>
            </a:r>
            <a:endParaRPr lang="en-US" sz="2100" dirty="0"/>
          </a:p>
        </p:txBody>
      </p:sp>
      <p:sp>
        <p:nvSpPr>
          <p:cNvPr id="10" name="Text 8"/>
          <p:cNvSpPr txBox="1"/>
          <p:nvPr/>
        </p:nvSpPr>
        <p:spPr>
          <a:xfrm>
            <a:off x="6492240" y="2286000"/>
            <a:ext cx="4800600" cy="1828800"/>
          </a:xfrm>
          <a:prstGeom prst="rect">
            <a:avLst/>
          </a:prstGeom>
          <a:noFill/>
        </p:spPr>
        <p:txBody>
          <a:bodyPr wrap="square" lIns="0" tIns="0" rIns="0" bIns="0" rtlCol="0" anchor="ctr"/>
          <a:lstStyle/>
          <a:p>
            <a:pPr marL="0" indent="0">
              <a:lnSpc>
                <a:spcPct val="130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With Q=2, LMC separated a short-range and a long-range component. I think these correspond to local contamination and regional geology, though I would want more evidence before saying that firmly.</a:t>
            </a:r>
            <a:endParaRPr lang="en-US" sz="1300" dirty="0"/>
          </a:p>
        </p:txBody>
      </p:sp>
      <p:sp>
        <p:nvSpPr>
          <p:cNvPr id="11" name="Shape 9"/>
          <p:cNvSpPr/>
          <p:nvPr/>
        </p:nvSpPr>
        <p:spPr>
          <a:xfrm>
            <a:off x="457200" y="4617720"/>
            <a:ext cx="11018520" cy="1508760"/>
          </a:xfrm>
          <a:prstGeom prst="roundRect">
            <a:avLst>
              <a:gd name="adj" fmla="val 4848"/>
            </a:avLst>
          </a:prstGeom>
          <a:solidFill>
            <a:srgbClr val="F3F4F6"/>
          </a:solidFill>
          <a:effectLst>
            <a:outerShdw blurRad="76200" dist="25400" dir="5400000" algn="bl" rotWithShape="0">
              <a:srgbClr val="1F2937">
                <a:alpha val="12000"/>
              </a:srgbClr>
            </a:outerShdw>
          </a:effectLst>
        </p:spPr>
        <p:txBody>
          <a:bodyPr/>
          <a:p/>
        </p:txBody>
      </p:sp>
      <p:sp>
        <p:nvSpPr>
          <p:cNvPr id="12" name="Text 10"/>
          <p:cNvSpPr txBox="1"/>
          <p:nvPr/>
        </p:nvSpPr>
        <p:spPr>
          <a:xfrm>
            <a:off x="713232" y="4800600"/>
            <a:ext cx="10506456" cy="1143000"/>
          </a:xfrm>
          <a:prstGeom prst="rect">
            <a:avLst/>
          </a:prstGeom>
          <a:noFill/>
        </p:spPr>
        <p:txBody>
          <a:bodyPr wrap="square" lIns="0" tIns="0" rIns="0" bIns="0" rtlCol="0" anchor="t"/>
          <a:lstStyle/>
          <a:p>
            <a:pPr marL="0" indent="0">
              <a:lnSpc>
                <a:spcPct val="115000"/>
              </a:lnSpc>
              <a:spcAft>
                <a:spcPts val="400"/>
              </a:spcAft>
              <a:buNone/>
            </a:pPr>
            <a:r>
              <a:rPr lang="en-US" sz="1050" b="1" kern="0" spc="100" dirty="0">
                <a:solidFill>
                  <a:srgbClr val="6B7280"/>
                </a:solidFill>
                <a:latin typeface="Calibri" panose="020F0502020204030204" pitchFamily="34" charset="0"/>
                <a:ea typeface="Calibri" panose="020F0502020204030204" pitchFamily="34" charset="-122"/>
                <a:cs typeface="Calibri" panose="020F0502020204030204" pitchFamily="34" charset="-120"/>
              </a:rPr>
              <a:t>How the slides fit together</a:t>
            </a:r>
            <a:endParaRPr lang="en-US" sz="1050" dirty="0"/>
          </a:p>
          <a:p>
            <a:pPr marL="0" indent="0">
              <a:lnSpc>
                <a:spcPct val="115000"/>
              </a:lnSpc>
              <a:buNone/>
            </a:pPr>
            <a:r>
              <a:rPr lang="en-US" sz="1300" dirty="0">
                <a:solidFill>
                  <a:srgbClr val="1F2937"/>
                </a:solidFill>
                <a:latin typeface="Calibri" panose="020F0502020204030204" pitchFamily="34" charset="0"/>
                <a:ea typeface="Calibri" panose="020F0502020204030204" pitchFamily="34" charset="-122"/>
                <a:cs typeface="Calibri" panose="020F0502020204030204" pitchFamily="34" charset="-120"/>
              </a:rPr>
              <a:t>The correlation exists (p.2) -&gt; borrowing information reduces uncertainty (p.6-10) -&gt; allowing two scales separates them (p.11) -&gt; but this does not improve prediction accuracy, which I tested and am reporting (p.12).</a:t>
            </a:r>
            <a:endParaRPr lang="en-US" sz="1050" dirty="0"/>
          </a:p>
        </p:txBody>
      </p:sp>
      <p:sp>
        <p:nvSpPr>
          <p:cNvPr id="13" name="Text 11"/>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4" name="Text 12"/>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6B7280"/>
                </a:solidFill>
                <a:latin typeface="Calibri" panose="020F0502020204030204" pitchFamily="34" charset="0"/>
                <a:ea typeface="Calibri" panose="020F0502020204030204" pitchFamily="34" charset="-122"/>
                <a:cs typeface="Calibri" panose="020F0502020204030204"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FFFFFF"/>
          </a:solidFill>
        </p:spPr>
        <p:txBody>
          <a:bodyPr/>
          <a:p/>
        </p:txBody>
      </p:sp>
      <p:sp>
        <p:nvSpPr>
          <p:cNvPr id="3" name="Text 1"/>
          <p:cNvSpPr txBox="1"/>
          <p:nvPr/>
        </p:nvSpPr>
        <p:spPr>
          <a:xfrm>
            <a:off x="457200" y="411480"/>
            <a:ext cx="457200" cy="457200"/>
          </a:xfrm>
          <a:prstGeom prst="rect">
            <a:avLst/>
          </a:prstGeom>
          <a:noFill/>
        </p:spPr>
        <p:txBody>
          <a:bodyPr wrap="square" lIns="0" tIns="0" rIns="0" bIns="0" rtlCol="0" anchor="ctr"/>
          <a:lstStyle/>
          <a:p>
            <a:pPr marL="0" indent="0" algn="ctr">
              <a:buNone/>
            </a:pPr>
            <a:r>
              <a:rPr lang="en-US" sz="1400" b="1" dirty="0">
                <a:solidFill>
                  <a:srgbClr val="1F2937"/>
                </a:solidFill>
                <a:latin typeface="Calibri" panose="020F0502020204030204" pitchFamily="34" charset="0"/>
                <a:ea typeface="Calibri" panose="020F0502020204030204" pitchFamily="34" charset="-122"/>
                <a:cs typeface="Calibri" panose="020F0502020204030204" pitchFamily="34" charset="-120"/>
              </a:rPr>
              <a:t>16</a:t>
            </a:r>
            <a:endParaRPr lang="en-US" sz="1400" dirty="0"/>
          </a:p>
        </p:txBody>
      </p:sp>
      <p:sp>
        <p:nvSpPr>
          <p:cNvPr id="4" name="Text 2"/>
          <p:cNvSpPr txBox="1"/>
          <p:nvPr/>
        </p:nvSpPr>
        <p:spPr>
          <a:xfrm>
            <a:off x="1078992" y="329184"/>
            <a:ext cx="10607040" cy="621792"/>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What I have so far, and what I do not</a:t>
            </a:r>
            <a:endParaRPr lang="en-US" sz="2600" dirty="0"/>
          </a:p>
        </p:txBody>
      </p:sp>
      <p:sp>
        <p:nvSpPr>
          <p:cNvPr id="5" name="Text 3"/>
          <p:cNvSpPr txBox="1"/>
          <p:nvPr/>
        </p:nvSpPr>
        <p:spPr>
          <a:xfrm>
            <a:off x="457200" y="1417320"/>
            <a:ext cx="11247120" cy="685800"/>
          </a:xfrm>
          <a:prstGeom prst="rect">
            <a:avLst/>
          </a:prstGeom>
          <a:noFill/>
        </p:spPr>
        <p:txBody>
          <a:bodyPr wrap="square" lIns="0" tIns="0" rIns="0" bIns="0" rtlCol="0" anchor="ctr"/>
          <a:lstStyle/>
          <a:p>
            <a:pPr marL="0" indent="0">
              <a:lnSpc>
                <a:spcPct val="125000"/>
              </a:lnSpc>
              <a:buNone/>
            </a:pPr>
            <a:r>
              <a:rPr lang="en-US" sz="1500" dirty="0">
                <a:solidFill>
                  <a:srgbClr val="E5E7EB"/>
                </a:solidFill>
                <a:latin typeface="Calibri" panose="020F0502020204030204" pitchFamily="34" charset="0"/>
                <a:ea typeface="Calibri" panose="020F0502020204030204" pitchFamily="34" charset="-122"/>
                <a:cs typeface="Calibri" panose="020F0502020204030204" pitchFamily="34" charset="-120"/>
              </a:rPr>
              <a:t>The whole pipeline runs end to end and I can reproduce every number in these slides. The improvement over the baseline holds across 10 splits.</a:t>
            </a:r>
            <a:endParaRPr lang="en-US" sz="1500" dirty="0"/>
          </a:p>
        </p:txBody>
      </p:sp>
      <p:sp>
        <p:nvSpPr>
          <p:cNvPr id="6" name="Shape 4"/>
          <p:cNvSpPr/>
          <p:nvPr/>
        </p:nvSpPr>
        <p:spPr>
          <a:xfrm>
            <a:off x="457200" y="2331720"/>
            <a:ext cx="11247120" cy="2880360"/>
          </a:xfrm>
          <a:prstGeom prst="roundRect">
            <a:avLst>
              <a:gd name="adj" fmla="val 3175"/>
            </a:avLst>
          </a:prstGeom>
          <a:solidFill>
            <a:srgbClr val="27334A"/>
          </a:solidFill>
        </p:spPr>
        <p:txBody>
          <a:bodyPr/>
          <a:p/>
        </p:txBody>
      </p:sp>
      <p:sp>
        <p:nvSpPr>
          <p:cNvPr id="7" name="Text 5"/>
          <p:cNvSpPr txBox="1"/>
          <p:nvPr/>
        </p:nvSpPr>
        <p:spPr>
          <a:xfrm>
            <a:off x="777240" y="2560320"/>
            <a:ext cx="10607040" cy="457200"/>
          </a:xfrm>
          <a:prstGeom prst="rect">
            <a:avLst/>
          </a:prstGeom>
          <a:noFill/>
        </p:spPr>
        <p:txBody>
          <a:bodyPr wrap="square" lIns="0" tIns="0" rIns="0" bIns="0" rtlCol="0" anchor="ctr"/>
          <a:lstStyle/>
          <a:p>
            <a:pPr marL="0" indent="0">
              <a:buNone/>
            </a:pPr>
            <a:r>
              <a:rPr lang="en-US" sz="1800" b="1" dirty="0">
                <a:solidFill>
                  <a:srgbClr val="7FA8E0"/>
                </a:solidFill>
                <a:latin typeface="Cambria" panose="02040503050406030204" pitchFamily="34" charset="0"/>
                <a:ea typeface="Cambria" panose="02040503050406030204" pitchFamily="34" charset="-122"/>
                <a:cs typeface="Cambria" panose="02040503050406030204" pitchFamily="34" charset="-120"/>
              </a:rPr>
              <a:t>What I still need to work out</a:t>
            </a:r>
            <a:endParaRPr lang="en-US" sz="1800" dirty="0"/>
          </a:p>
        </p:txBody>
      </p:sp>
      <p:sp>
        <p:nvSpPr>
          <p:cNvPr id="8" name="Text 6"/>
          <p:cNvSpPr txBox="1"/>
          <p:nvPr/>
        </p:nvSpPr>
        <p:spPr>
          <a:xfrm>
            <a:off x="777240" y="3108960"/>
            <a:ext cx="10607040" cy="1965960"/>
          </a:xfrm>
          <a:prstGeom prst="rect">
            <a:avLst/>
          </a:prstGeom>
          <a:noFill/>
        </p:spPr>
        <p:txBody>
          <a:bodyPr wrap="square" lIns="0" tIns="0" rIns="0" bIns="0" rtlCol="0" anchor="ctr"/>
          <a:lstStyle/>
          <a:p>
            <a:pPr marL="342900" indent="-342900">
              <a:lnSpc>
                <a:spcPct val="130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How to choose Q properly. I compared Q=1 and Q=2 because that is the smallest test of whether more than one scale exists, but deciding how many scales to keep needs model-selection criteria such as BIC or AIC, and I am still learning that part.</a:t>
            </a:r>
            <a:endParaRPr lang="en-US" sz="1350" dirty="0"/>
          </a:p>
          <a:p>
            <a:pPr marL="342900" indent="-342900">
              <a:lnSpc>
                <a:spcPct val="130000"/>
              </a:lnSpc>
              <a:spcAft>
                <a:spcPts val="1000"/>
              </a:spcAft>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The model uses one shared noise term for all three metals rather than a separate one per metal. I would like to check whether that matters.</a:t>
            </a:r>
            <a:endParaRPr lang="en-US" sz="1350" dirty="0"/>
          </a:p>
          <a:p>
            <a:pPr marL="342900" indent="-342900">
              <a:lnSpc>
                <a:spcPct val="130000"/>
              </a:lnSpc>
              <a:buSzPct val="100000"/>
              <a:buChar char="•"/>
            </a:pPr>
            <a:r>
              <a:rPr lang="en-US" sz="1350" dirty="0">
                <a:solidFill>
                  <a:srgbClr val="FFFFFF"/>
                </a:solidFill>
                <a:latin typeface="Calibri" panose="020F0502020204030204" pitchFamily="34" charset="0"/>
                <a:ea typeface="Calibri" panose="020F0502020204030204" pitchFamily="34" charset="-122"/>
                <a:cs typeface="Calibri" panose="020F0502020204030204" pitchFamily="34" charset="-120"/>
              </a:rPr>
              <a:t>I have only tested this on one dataset, and the whole gain depends on Ni / Zn being measured at the same sites - I do not know yet how it behaves when they are not.</a:t>
            </a:r>
            <a:endParaRPr lang="en-US" sz="1350" dirty="0"/>
          </a:p>
        </p:txBody>
      </p:sp>
      <p:sp>
        <p:nvSpPr>
          <p:cNvPr id="9" name="Text 7"/>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9CA3AF"/>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10" name="Text 8"/>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9CA3AF"/>
                </a:solidFill>
                <a:latin typeface="Calibri" panose="020F0502020204030204" pitchFamily="34" charset="0"/>
                <a:ea typeface="Calibri" panose="020F0502020204030204" pitchFamily="34" charset="-122"/>
                <a:cs typeface="Calibri" panose="020F0502020204030204"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2937"/>
        </a:solidFill>
        <a:effectLst/>
      </p:bgPr>
    </p:bg>
    <p:spTree>
      <p:nvGrpSpPr>
        <p:cNvPr id="1" name=""/>
        <p:cNvGrpSpPr/>
        <p:nvPr/>
      </p:nvGrpSpPr>
      <p:grpSpPr>
        <a:xfrm>
          <a:off x="0" y="0"/>
          <a:ext cx="0" cy="0"/>
          <a:chOff x="0" y="0"/>
          <a:chExt cx="0" cy="0"/>
        </a:xfrm>
      </p:grpSpPr>
      <p:sp>
        <p:nvSpPr>
          <p:cNvPr id="2" name="Text 0"/>
          <p:cNvSpPr txBox="1"/>
          <p:nvPr/>
        </p:nvSpPr>
        <p:spPr>
          <a:xfrm>
            <a:off x="822960" y="2468880"/>
            <a:ext cx="10515600" cy="1097280"/>
          </a:xfrm>
          <a:prstGeom prst="rect">
            <a:avLst/>
          </a:prstGeom>
          <a:noFill/>
        </p:spPr>
        <p:txBody>
          <a:bodyPr wrap="square" lIns="0" tIns="0" rIns="0" bIns="0" rtlCol="0" anchor="ctr"/>
          <a:lstStyle/>
          <a:p>
            <a:pPr marL="0" indent="0">
              <a:buNone/>
            </a:pPr>
            <a:r>
              <a:rPr lang="en-US" sz="4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4400" dirty="0"/>
          </a:p>
        </p:txBody>
      </p:sp>
      <p:sp>
        <p:nvSpPr>
          <p:cNvPr id="3" name="Text 1"/>
          <p:cNvSpPr txBox="1"/>
          <p:nvPr/>
        </p:nvSpPr>
        <p:spPr>
          <a:xfrm>
            <a:off x="822960" y="3429000"/>
            <a:ext cx="10515600" cy="548640"/>
          </a:xfrm>
          <a:prstGeom prst="rect">
            <a:avLst/>
          </a:prstGeom>
          <a:noFill/>
        </p:spPr>
        <p:txBody>
          <a:bodyPr wrap="square" lIns="0" tIns="0" rIns="0" bIns="0" rtlCol="0" anchor="ctr"/>
          <a:lstStyle/>
          <a:p>
            <a:pPr marL="0" indent="0">
              <a:buNone/>
            </a:pPr>
            <a:r>
              <a:rPr lang="en-US" sz="1800" dirty="0">
                <a:solidFill>
                  <a:srgbClr val="9DB2D9"/>
                </a:solidFill>
                <a:latin typeface="Calibri" panose="020F0502020204030204" pitchFamily="34" charset="0"/>
                <a:ea typeface="Calibri" panose="020F0502020204030204" pitchFamily="34" charset="-122"/>
                <a:cs typeface="Calibri" panose="020F0502020204030204" pitchFamily="34" charset="-120"/>
              </a:rPr>
              <a:t>Questions and comments welcome</a:t>
            </a:r>
            <a:endParaRPr lang="en-US" sz="1800" dirty="0"/>
          </a:p>
        </p:txBody>
      </p:sp>
      <p:sp>
        <p:nvSpPr>
          <p:cNvPr id="4" name="Shape 2"/>
          <p:cNvSpPr/>
          <p:nvPr/>
        </p:nvSpPr>
        <p:spPr>
          <a:xfrm>
            <a:off x="822960" y="4160520"/>
            <a:ext cx="2926080" cy="0"/>
          </a:xfrm>
          <a:prstGeom prst="line">
            <a:avLst/>
          </a:prstGeom>
          <a:noFill/>
          <a:ln w="25400">
            <a:solidFill>
              <a:srgbClr val="4C72B0"/>
            </a:solidFill>
            <a:prstDash val="solid"/>
          </a:ln>
        </p:spPr>
        <p:txBody>
          <a:bodyPr/>
          <a:p/>
        </p:txBody>
      </p:sp>
      <p:sp>
        <p:nvSpPr>
          <p:cNvPr id="5" name="Text 3"/>
          <p:cNvSpPr txBox="1"/>
          <p:nvPr/>
        </p:nvSpPr>
        <p:spPr>
          <a:xfrm>
            <a:off x="822960" y="4343400"/>
            <a:ext cx="10058400" cy="365760"/>
          </a:xfrm>
          <a:prstGeom prst="rect">
            <a:avLst/>
          </a:prstGeom>
          <a:noFill/>
        </p:spPr>
        <p:txBody>
          <a:bodyPr wrap="square" lIns="0" tIns="0" rIns="0" bIns="0" rtlCol="0" anchor="ctr"/>
          <a:lstStyle/>
          <a:p>
            <a:pPr marL="0" indent="0">
              <a:buNone/>
            </a:pPr>
            <a:r>
              <a:rPr lang="en-US" sz="1200" dirty="0">
                <a:solidFill>
                  <a:srgbClr val="9CA3AF"/>
                </a:solidFill>
                <a:latin typeface="Calibri" panose="020F0502020204030204" pitchFamily="34" charset="0"/>
                <a:ea typeface="Calibri" panose="020F0502020204030204" pitchFamily="34" charset="-122"/>
                <a:cs typeface="Calibri" panose="020F0502020204030204" pitchFamily="34" charset="-120"/>
              </a:rPr>
              <a:t>All numbers come from results/*.csv and *.json; the pipeline scripts are in src/</a:t>
            </a:r>
            <a:endParaRPr lang="en-US" sz="1200" dirty="0"/>
          </a:p>
        </p:txBody>
      </p:sp>
      <p:sp>
        <p:nvSpPr>
          <p:cNvPr id="6" name="Text 4"/>
          <p:cNvSpPr txBox="1"/>
          <p:nvPr/>
        </p:nvSpPr>
        <p:spPr>
          <a:xfrm>
            <a:off x="457200" y="6547104"/>
            <a:ext cx="4572000" cy="256032"/>
          </a:xfrm>
          <a:prstGeom prst="rect">
            <a:avLst/>
          </a:prstGeom>
          <a:noFill/>
        </p:spPr>
        <p:txBody>
          <a:bodyPr wrap="square" lIns="0" tIns="0" rIns="0" bIns="0" rtlCol="0" anchor="ctr"/>
          <a:lstStyle/>
          <a:p>
            <a:pPr marL="0" indent="0">
              <a:buNone/>
            </a:pPr>
            <a:r>
              <a:rPr lang="en-US" sz="900" dirty="0">
                <a:solidFill>
                  <a:srgbClr val="9CA3AF"/>
                </a:solidFill>
                <a:latin typeface="Calibri" panose="020F0502020204030204" pitchFamily="34" charset="0"/>
                <a:ea typeface="Calibri" panose="020F0502020204030204" pitchFamily="34" charset="-122"/>
                <a:cs typeface="Calibri" panose="020F0502020204030204" pitchFamily="34" charset="-120"/>
              </a:rPr>
              <a:t>Jura MOGP · Group Meeting</a:t>
            </a:r>
            <a:endParaRPr lang="en-US" sz="900" dirty="0"/>
          </a:p>
        </p:txBody>
      </p:sp>
      <p:sp>
        <p:nvSpPr>
          <p:cNvPr id="7" name="Text 5"/>
          <p:cNvSpPr txBox="1"/>
          <p:nvPr/>
        </p:nvSpPr>
        <p:spPr>
          <a:xfrm>
            <a:off x="10817352" y="6547104"/>
            <a:ext cx="914400" cy="256032"/>
          </a:xfrm>
          <a:prstGeom prst="rect">
            <a:avLst/>
          </a:prstGeom>
          <a:noFill/>
        </p:spPr>
        <p:txBody>
          <a:bodyPr wrap="square" lIns="0" tIns="0" rIns="0" bIns="0" rtlCol="0" anchor="ctr"/>
          <a:lstStyle/>
          <a:p>
            <a:pPr marL="0" indent="0" algn="r">
              <a:buNone/>
            </a:pPr>
            <a:r>
              <a:rPr lang="en-US" sz="900" dirty="0">
                <a:solidFill>
                  <a:srgbClr val="9CA3AF"/>
                </a:solidFill>
                <a:latin typeface="Calibri" panose="020F0502020204030204" pitchFamily="34" charset="0"/>
                <a:ea typeface="Calibri" panose="020F0502020204030204" pitchFamily="34" charset="-122"/>
                <a:cs typeface="Calibri" panose="020F0502020204030204"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9455</Words>
  <Application>WPS 演示</Application>
  <PresentationFormat>On-screen Show (16:9)</PresentationFormat>
  <Paragraphs>409</Paragraphs>
  <Slides>17</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宋体</vt:lpstr>
      <vt:lpstr>Wingdings</vt:lpstr>
      <vt:lpstr>Calibri</vt:lpstr>
      <vt:lpstr>Calibri</vt:lpstr>
      <vt:lpstr>Calibri</vt:lpstr>
      <vt:lpstr>Cambria</vt:lpstr>
      <vt:lpstr>Cambria</vt:lpstr>
      <vt:lpstr>Cambria</vt:lpstr>
      <vt:lpstr>微软雅黑</vt:lpstr>
      <vt:lpstr>Arial Unicode MS</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Porant</cp:lastModifiedBy>
  <cp:revision>2</cp:revision>
  <dcterms:created xsi:type="dcterms:W3CDTF">2026-08-27T16:21:00Z</dcterms:created>
  <dcterms:modified xsi:type="dcterms:W3CDTF">2026-08-28T03:47:51Z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B35F85C3B8FD439593821A92B020854B_12</vt:lpwstr>
  </property>
  <property fmtid="{D5CDD505-2E9C-101B-9397-08002B2CF9AE}" pid="3" name="KSOProductBuildVer">
    <vt:lpwstr>2052-12.1.0.28043</vt:lpwstr>
  </property>
</Properties>
</file>